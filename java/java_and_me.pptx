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6" r:id="rId2"/>
    <p:sldId id="276" r:id="rId3"/>
    <p:sldId id="324" r:id="rId4"/>
    <p:sldId id="326" r:id="rId5"/>
    <p:sldId id="331" r:id="rId6"/>
    <p:sldId id="325" r:id="rId7"/>
    <p:sldId id="279" r:id="rId8"/>
    <p:sldId id="304" r:id="rId9"/>
    <p:sldId id="332" r:id="rId10"/>
    <p:sldId id="333" r:id="rId11"/>
    <p:sldId id="334" r:id="rId12"/>
    <p:sldId id="336" r:id="rId13"/>
    <p:sldId id="337" r:id="rId14"/>
    <p:sldId id="338" r:id="rId15"/>
    <p:sldId id="306" r:id="rId16"/>
    <p:sldId id="328" r:id="rId17"/>
    <p:sldId id="339" r:id="rId18"/>
    <p:sldId id="347" r:id="rId19"/>
    <p:sldId id="348" r:id="rId20"/>
    <p:sldId id="340" r:id="rId21"/>
    <p:sldId id="341" r:id="rId22"/>
    <p:sldId id="346" r:id="rId23"/>
    <p:sldId id="343" r:id="rId24"/>
    <p:sldId id="342" r:id="rId25"/>
    <p:sldId id="344" r:id="rId26"/>
    <p:sldId id="345" r:id="rId27"/>
  </p:sldIdLst>
  <p:sldSz cx="9144000" cy="5143500" type="screen16x9"/>
  <p:notesSz cx="6858000" cy="9144000"/>
  <p:embeddedFontLst>
    <p:embeddedFont>
      <p:font typeface="PT Sans Narrow" panose="020B0604020202020204" charset="0"/>
      <p:regular r:id="rId30"/>
      <p:bold r:id="rId31"/>
    </p:embeddedFont>
    <p:embeddedFont>
      <p:font typeface="Open Sans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4" roundtripDataSignature="AMtx7mh3989DbHeCCcghSyDbXqoAhpt+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CA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DC773CA-9BDA-4F7F-8A96-76B0CF8F49A1}">
  <a:tblStyle styleId="{8DC773CA-9BDA-4F7F-8A96-76B0CF8F49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C838FC6E-01E2-4FB2-8F2E-1E4BBFDAC96D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D196E8A-AA6E-49EB-B677-15E39E269131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4BACC6">
              <a:alpha val="4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4BACC6">
              <a:alpha val="4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lastCol>
    <a:firstCol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firstCol>
    <a:lastRow>
      <a:tcTxStyle b="on" i="off"/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4BACC6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4BACC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7" autoAdjust="0"/>
  </p:normalViewPr>
  <p:slideViewPr>
    <p:cSldViewPr snapToGrid="0">
      <p:cViewPr varScale="1">
        <p:scale>
          <a:sx n="116" d="100"/>
          <a:sy n="116" d="100"/>
        </p:scale>
        <p:origin x="518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9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9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8" Type="http://schemas.openxmlformats.org/officeDocument/2006/relationships/slide" Target="slides/slide7.xml"/><Relationship Id="rId98" Type="http://schemas.openxmlformats.org/officeDocument/2006/relationships/tableStyles" Target="tableStyles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36578-2FC0-422C-ACDA-09B6981D5305}" type="datetimeFigureOut">
              <a:rPr lang="en-CA" smtClean="0"/>
              <a:t>2025-07-29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CA" smtClean="0"/>
              <a:t>Dr. Amit Kumar Mondal, CSEKU</a:t>
            </a:r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98BCEC-457E-449C-8211-0C7FF61811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2044343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42168351"/>
      </p:ext>
    </p:extLst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9977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6390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33646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6802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453382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8573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018184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5299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158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6904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6295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6512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618597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916891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982556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37868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42744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39233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181545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681557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76050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365881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890058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853134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735997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0872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57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57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57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57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57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57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57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57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57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57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5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8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8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60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1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61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p6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p6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4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" name="Google Shape;47;p64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64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64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6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5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6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6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66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66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 i="0" u="none" strike="noStrike" cap="none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5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"/>
          <p:cNvSpPr txBox="1">
            <a:spLocks noGrp="1"/>
          </p:cNvSpPr>
          <p:nvPr>
            <p:ph type="ctrTitle"/>
          </p:nvPr>
        </p:nvSpPr>
        <p:spPr>
          <a:xfrm>
            <a:off x="1217007" y="442649"/>
            <a:ext cx="6709986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2800" dirty="0" smtClean="0">
                <a:solidFill>
                  <a:srgbClr val="000000"/>
                </a:solidFill>
              </a:rPr>
              <a:t>Introduction to Java</a:t>
            </a:r>
            <a:endParaRPr sz="2800" dirty="0">
              <a:solidFill>
                <a:srgbClr val="000000"/>
              </a:solidFill>
            </a:endParaRPr>
          </a:p>
        </p:txBody>
      </p:sp>
      <p:sp>
        <p:nvSpPr>
          <p:cNvPr id="67" name="Google Shape;67;p1"/>
          <p:cNvSpPr txBox="1">
            <a:spLocks noGrp="1"/>
          </p:cNvSpPr>
          <p:nvPr>
            <p:ph type="subTitle" idx="1"/>
          </p:nvPr>
        </p:nvSpPr>
        <p:spPr>
          <a:xfrm>
            <a:off x="311700" y="31043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600" b="1" dirty="0"/>
              <a:t>Dr. Amit Kumar Mondal</a:t>
            </a:r>
            <a:r>
              <a:rPr lang="en-US" sz="1600" dirty="0"/>
              <a:t>,</a:t>
            </a:r>
            <a:endParaRPr sz="1600" dirty="0"/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/>
              <a:t>Associate Professor, CSE </a:t>
            </a:r>
            <a:r>
              <a:rPr lang="en-US" sz="1400" dirty="0" smtClean="0"/>
              <a:t>KU</a:t>
            </a: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 smtClean="0"/>
              <a:t>amit@cse.ku.ac.bd</a:t>
            </a:r>
            <a:endParaRPr sz="1400" dirty="0"/>
          </a:p>
        </p:txBody>
      </p:sp>
      <p:sp>
        <p:nvSpPr>
          <p:cNvPr id="71" name="Google Shape;71;p1"/>
          <p:cNvSpPr txBox="1">
            <a:spLocks noGrp="1"/>
          </p:cNvSpPr>
          <p:nvPr>
            <p:ph type="subTitle" idx="1"/>
          </p:nvPr>
        </p:nvSpPr>
        <p:spPr>
          <a:xfrm>
            <a:off x="1095902" y="264009"/>
            <a:ext cx="7183800" cy="5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1400" dirty="0"/>
              <a:t>Computer Science &amp; Engineering, Khulna University</a:t>
            </a:r>
            <a:endParaRPr sz="1400" dirty="0"/>
          </a:p>
        </p:txBody>
      </p:sp>
      <p:pic>
        <p:nvPicPr>
          <p:cNvPr id="1026" name="Picture 2" descr="Not Found">
            <a:extLst>
              <a:ext uri="{FF2B5EF4-FFF2-40B4-BE49-F238E27FC236}">
                <a16:creationId xmlns:a16="http://schemas.microsoft.com/office/drawing/2014/main" xmlns="" id="{429A803B-6FEB-B38E-0521-DB550C6E5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670" y="100984"/>
            <a:ext cx="749776" cy="896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489317" y="1852623"/>
            <a:ext cx="8124945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rgbClr val="0070C0"/>
                </a:solidFill>
              </a:rPr>
              <a:t>Introducing Myself</a:t>
            </a: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50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68263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 smtClean="0"/>
              <a:t>Education &amp; Profession</a:t>
            </a:r>
            <a:endParaRPr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852764" y="2766947"/>
            <a:ext cx="5607242" cy="100248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600" dirty="0"/>
              <a:t> </a:t>
            </a:r>
            <a:r>
              <a:rPr lang="en-CA" sz="1600" dirty="0" smtClean="0"/>
              <a:t>Associate Professor, CSE, Khulna University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CA" sz="1600" dirty="0" smtClean="0"/>
              <a:t>Software Engineer, 2010-2012, Dhaka</a:t>
            </a: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="" xmlns:a16="http://schemas.microsoft.com/office/drawing/2014/main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77;p2">
            <a:extLst>
              <a:ext uri="{FF2B5EF4-FFF2-40B4-BE49-F238E27FC236}">
                <a16:creationId xmlns="" xmlns:a16="http://schemas.microsoft.com/office/drawing/2014/main" id="{92436849-3CC3-A229-F331-131C54A018F6}"/>
              </a:ext>
            </a:extLst>
          </p:cNvPr>
          <p:cNvSpPr txBox="1">
            <a:spLocks/>
          </p:cNvSpPr>
          <p:nvPr/>
        </p:nvSpPr>
        <p:spPr>
          <a:xfrm>
            <a:off x="852764" y="1139955"/>
            <a:ext cx="5554614" cy="1386157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1600" dirty="0" smtClean="0"/>
              <a:t>PhD, </a:t>
            </a:r>
            <a:r>
              <a:rPr lang="en-CA" sz="1600" dirty="0"/>
              <a:t>University of Saskatchewan, </a:t>
            </a:r>
            <a:r>
              <a:rPr lang="en-CA" sz="1600" dirty="0" smtClean="0"/>
              <a:t>Canada (2022)</a:t>
            </a:r>
            <a:endParaRPr lang="en-CA" sz="1600" dirty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MSC, </a:t>
            </a:r>
            <a:r>
              <a:rPr lang="en-CA" sz="1600" dirty="0"/>
              <a:t>University of Saskatchewan, </a:t>
            </a:r>
            <a:r>
              <a:rPr lang="en-CA" sz="1600" dirty="0" smtClean="0"/>
              <a:t>Canada (2017)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BSC, </a:t>
            </a:r>
            <a:r>
              <a:rPr lang="en-CA" sz="1600" dirty="0" smtClean="0"/>
              <a:t>CSE, Khulna University (2009)</a:t>
            </a:r>
            <a:endParaRPr lang="en-CA" sz="1600" dirty="0"/>
          </a:p>
          <a:p>
            <a:pPr marL="114300" lvl="0" indent="0">
              <a:lnSpc>
                <a:spcPct val="150000"/>
              </a:lnSpc>
              <a:buNone/>
            </a:pPr>
            <a:endParaRPr lang="en-CA" sz="1600" dirty="0" smtClean="0"/>
          </a:p>
          <a:p>
            <a:pPr lvl="2">
              <a:lnSpc>
                <a:spcPct val="150000"/>
              </a:lnSpc>
            </a:pP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164443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="" xmlns:a16="http://schemas.microsoft.com/office/drawing/2014/main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0999" r="-1231" b="8937"/>
          <a:stretch/>
        </p:blipFill>
        <p:spPr>
          <a:xfrm>
            <a:off x="1348577" y="138147"/>
            <a:ext cx="5664016" cy="463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853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="" xmlns:a16="http://schemas.microsoft.com/office/drawing/2014/main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06" y="900954"/>
            <a:ext cx="4050177" cy="1868028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7494" y="1626867"/>
            <a:ext cx="3955456" cy="218514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06" y="3086100"/>
            <a:ext cx="4003112" cy="1456093"/>
          </a:xfrm>
          <a:prstGeom prst="rect">
            <a:avLst/>
          </a:prstGeom>
        </p:spPr>
      </p:pic>
      <p:sp>
        <p:nvSpPr>
          <p:cNvPr id="8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68263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dirty="0" smtClean="0"/>
              <a:t>Involvement of Projects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3388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-60137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Current </a:t>
            </a:r>
            <a:r>
              <a:rPr lang="en-US" dirty="0" smtClean="0"/>
              <a:t>Activities</a:t>
            </a:r>
            <a:endParaRPr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" name="Picture 2" descr="Not Found">
            <a:extLst>
              <a:ext uri="{FF2B5EF4-FFF2-40B4-BE49-F238E27FC236}">
                <a16:creationId xmlns="" xmlns:a16="http://schemas.microsoft.com/office/drawing/2014/main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77;p2">
            <a:extLst>
              <a:ext uri="{FF2B5EF4-FFF2-40B4-BE49-F238E27FC236}">
                <a16:creationId xmlns="" xmlns:a16="http://schemas.microsoft.com/office/drawing/2014/main" id="{AC981E88-C6E3-3259-6FC5-91CB0D831C04}"/>
              </a:ext>
            </a:extLst>
          </p:cNvPr>
          <p:cNvSpPr txBox="1">
            <a:spLocks/>
          </p:cNvSpPr>
          <p:nvPr/>
        </p:nvSpPr>
        <p:spPr>
          <a:xfrm>
            <a:off x="254430" y="715147"/>
            <a:ext cx="7784257" cy="1727824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dirty="0" smtClean="0"/>
              <a:t>Working </a:t>
            </a:r>
            <a:r>
              <a:rPr lang="en-US" sz="1600" dirty="0"/>
              <a:t>on </a:t>
            </a:r>
            <a:r>
              <a:rPr lang="en-US" sz="1600" dirty="0" smtClean="0"/>
              <a:t>AI Tools </a:t>
            </a:r>
            <a:r>
              <a:rPr lang="en-US" sz="1600" dirty="0"/>
              <a:t>for </a:t>
            </a:r>
            <a:r>
              <a:rPr lang="en-US" sz="1600" dirty="0" smtClean="0"/>
              <a:t>Software Development &amp; Maintenance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 smtClean="0"/>
              <a:t>Supervising 10 Research Students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AI-based </a:t>
            </a:r>
            <a:r>
              <a:rPr lang="en-US" sz="1600" dirty="0"/>
              <a:t>C</a:t>
            </a:r>
            <a:r>
              <a:rPr lang="en-US" sz="1600" dirty="0" smtClean="0"/>
              <a:t>rops Disease Detection</a:t>
            </a:r>
          </a:p>
          <a:p>
            <a:pPr>
              <a:lnSpc>
                <a:spcPct val="150000"/>
              </a:lnSpc>
            </a:pPr>
            <a:r>
              <a:rPr lang="en-US" sz="1600" dirty="0" smtClean="0"/>
              <a:t>Workshop, Training on Software Quality Assurance (BJIT, EDGE-ICT) </a:t>
            </a:r>
            <a:endParaRPr lang="en-US" sz="1600" dirty="0"/>
          </a:p>
        </p:txBody>
      </p:sp>
      <p:pic>
        <p:nvPicPr>
          <p:cNvPr id="6" name="Picture 5" descr="A group of people standing in a room&#10;&#10;Description automatically generated">
            <a:extLst>
              <a:ext uri="{FF2B5EF4-FFF2-40B4-BE49-F238E27FC236}">
                <a16:creationId xmlns="" xmlns:a16="http://schemas.microsoft.com/office/drawing/2014/main" id="{B114B071-846D-57D4-88DA-3D5C98968E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715" y="3010235"/>
            <a:ext cx="2295868" cy="1516605"/>
          </a:xfrm>
          <a:prstGeom prst="rect">
            <a:avLst/>
          </a:prstGeom>
        </p:spPr>
      </p:pic>
      <p:pic>
        <p:nvPicPr>
          <p:cNvPr id="10" name="Picture 9" descr="A screenshot of a video call&#10;&#10;Description automatically generated">
            <a:extLst>
              <a:ext uri="{FF2B5EF4-FFF2-40B4-BE49-F238E27FC236}">
                <a16:creationId xmlns="" xmlns:a16="http://schemas.microsoft.com/office/drawing/2014/main" id="{10B503B7-E578-4681-0F22-AA1406B08C0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2664" t="11685" r="13189" b="7315"/>
          <a:stretch/>
        </p:blipFill>
        <p:spPr>
          <a:xfrm>
            <a:off x="2926939" y="3010235"/>
            <a:ext cx="2439238" cy="1581936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5900842" y="2839237"/>
            <a:ext cx="2434014" cy="2100954"/>
            <a:chOff x="5900842" y="2839237"/>
            <a:chExt cx="2434014" cy="210095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 rotWithShape="1">
            <a:blip r:embed="rId6"/>
            <a:srcRect b="22115"/>
            <a:stretch/>
          </p:blipFill>
          <p:spPr>
            <a:xfrm>
              <a:off x="5900842" y="3265674"/>
              <a:ext cx="2434014" cy="1674517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7"/>
            <a:srcRect r="62567"/>
            <a:stretch/>
          </p:blipFill>
          <p:spPr>
            <a:xfrm>
              <a:off x="5950686" y="2839237"/>
              <a:ext cx="2088001" cy="34199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7"/>
            <a:srcRect l="57677" t="27250"/>
            <a:stretch/>
          </p:blipFill>
          <p:spPr>
            <a:xfrm>
              <a:off x="5950686" y="3144483"/>
              <a:ext cx="2324963" cy="358402"/>
            </a:xfrm>
            <a:prstGeom prst="rect">
              <a:avLst/>
            </a:prstGeom>
          </p:spPr>
        </p:pic>
        <p:sp>
          <p:nvSpPr>
            <p:cNvPr id="7" name="Rectangle 6"/>
            <p:cNvSpPr/>
            <p:nvPr/>
          </p:nvSpPr>
          <p:spPr>
            <a:xfrm>
              <a:off x="5950686" y="4387804"/>
              <a:ext cx="2147346" cy="552387"/>
            </a:xfrm>
            <a:prstGeom prst="rect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  <p:extLst>
      <p:ext uri="{BB962C8B-B14F-4D97-AF65-F5344CB8AC3E}">
        <p14:creationId xmlns:p14="http://schemas.microsoft.com/office/powerpoint/2010/main" val="3225072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907822" y="1113023"/>
            <a:ext cx="7308621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>
                <a:solidFill>
                  <a:srgbClr val="0070C0"/>
                </a:solidFill>
              </a:rPr>
              <a:t>Application of Java Programming Language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7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861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 smtClean="0"/>
              <a:t>Android </a:t>
            </a:r>
            <a:r>
              <a:rPr lang="en-US" b="1" dirty="0"/>
              <a:t>Mobile Applications:</a:t>
            </a:r>
            <a:r>
              <a:rPr lang="en-US" dirty="0"/>
              <a:t> The Android operating system itself is heavily based on Java, and many Android apps are developed using Java </a:t>
            </a:r>
            <a:r>
              <a:rPr lang="en-US" dirty="0" smtClean="0"/>
              <a:t>Examples </a:t>
            </a:r>
            <a:r>
              <a:rPr lang="en-US" dirty="0"/>
              <a:t>include:</a:t>
            </a:r>
          </a:p>
          <a:p>
            <a:pPr lvl="1"/>
            <a:r>
              <a:rPr lang="en-US" b="1" dirty="0" err="1"/>
              <a:t>Spotify</a:t>
            </a:r>
            <a:endParaRPr lang="en-US" dirty="0"/>
          </a:p>
          <a:p>
            <a:pPr lvl="1"/>
            <a:r>
              <a:rPr lang="en-US" b="1" dirty="0"/>
              <a:t>Netflix</a:t>
            </a:r>
            <a:endParaRPr lang="en-US" dirty="0"/>
          </a:p>
          <a:p>
            <a:pPr lvl="1"/>
            <a:r>
              <a:rPr lang="en-US" b="1" dirty="0"/>
              <a:t>Twitter</a:t>
            </a:r>
            <a:endParaRPr lang="en-US" dirty="0"/>
          </a:p>
          <a:p>
            <a:pPr lvl="1"/>
            <a:r>
              <a:rPr lang="en-US" b="1" dirty="0" err="1"/>
              <a:t>Uber</a:t>
            </a:r>
            <a:endParaRPr lang="en-US" dirty="0"/>
          </a:p>
          <a:p>
            <a:pPr lvl="1"/>
            <a:r>
              <a:rPr lang="en-US" b="1" dirty="0"/>
              <a:t>Cash App</a:t>
            </a:r>
            <a:endParaRPr lang="en-US" dirty="0"/>
          </a:p>
          <a:p>
            <a:pPr lvl="1"/>
            <a:r>
              <a:rPr lang="en-US" dirty="0"/>
              <a:t>Many other mobile apps you use daily.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8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278504" y="1799490"/>
            <a:ext cx="359746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001D35"/>
                </a:solidFill>
                <a:latin typeface="Google Sans"/>
              </a:rPr>
              <a:t>*Android phone 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market, holding </a:t>
            </a:r>
            <a:r>
              <a:rPr lang="en-US" dirty="0" smtClean="0"/>
              <a:t>72</a:t>
            </a:r>
            <a:r>
              <a:rPr lang="en-US" dirty="0"/>
              <a:t>%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 </a:t>
            </a:r>
            <a:r>
              <a:rPr lang="en-US" dirty="0" smtClean="0">
                <a:solidFill>
                  <a:srgbClr val="001D35"/>
                </a:solidFill>
                <a:latin typeface="Google Sans"/>
              </a:rPr>
              <a:t>share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26792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Enterprise Applications:</a:t>
            </a:r>
            <a:r>
              <a:rPr lang="en-US" dirty="0"/>
              <a:t> Java is a dominant force in enterprise-level software due to its scalability, robustness, and performance. This includes:</a:t>
            </a:r>
          </a:p>
          <a:p>
            <a:r>
              <a:rPr lang="en-US" b="1" dirty="0"/>
              <a:t>CRM (Customer Relationship Management) systems</a:t>
            </a:r>
            <a:endParaRPr lang="en-US" dirty="0"/>
          </a:p>
          <a:p>
            <a:r>
              <a:rPr lang="en-US" b="1" dirty="0"/>
              <a:t>ERP (Enterprise Resource Planning) systems</a:t>
            </a:r>
            <a:endParaRPr lang="en-US" dirty="0"/>
          </a:p>
          <a:p>
            <a:r>
              <a:rPr lang="en-US" b="1" dirty="0"/>
              <a:t>Large-scale business applications</a:t>
            </a:r>
            <a:r>
              <a:rPr lang="en-US" dirty="0"/>
              <a:t> used by major corporations.</a:t>
            </a:r>
          </a:p>
          <a:p>
            <a:r>
              <a:rPr lang="en-US" dirty="0"/>
              <a:t>Many financial trading applications (e.g., Murex).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9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847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Enterprise Applications:</a:t>
            </a:r>
            <a:r>
              <a:rPr lang="en-US" dirty="0"/>
              <a:t> Java is a dominant force in enterprise-level software due to its scalability, robustness, and performance. This includes:</a:t>
            </a:r>
          </a:p>
          <a:p>
            <a:r>
              <a:rPr lang="en-US" b="1" dirty="0"/>
              <a:t>CRM (Customer Relationship Management) systems</a:t>
            </a:r>
            <a:endParaRPr lang="en-US" dirty="0"/>
          </a:p>
          <a:p>
            <a:r>
              <a:rPr lang="en-US" b="1" dirty="0"/>
              <a:t>ERP (Enterprise Resource Planning) systems</a:t>
            </a:r>
            <a:endParaRPr lang="en-US" dirty="0"/>
          </a:p>
          <a:p>
            <a:r>
              <a:rPr lang="en-US" b="1" dirty="0"/>
              <a:t>Large-scale business applications</a:t>
            </a:r>
            <a:r>
              <a:rPr lang="en-US" dirty="0"/>
              <a:t> used by major corporations.</a:t>
            </a:r>
          </a:p>
          <a:p>
            <a:r>
              <a:rPr lang="en-US" dirty="0"/>
              <a:t>Many financial trading applications (e.g., Murex).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10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57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b="1" dirty="0"/>
              <a:t>Web Applications and Backend Systems:</a:t>
            </a:r>
            <a:r>
              <a:rPr lang="en-CA" dirty="0"/>
              <a:t> Java is extensively used for the server-side logic and backend of many prominent websites and web services. Examples include:</a:t>
            </a:r>
          </a:p>
          <a:p>
            <a:r>
              <a:rPr lang="en-CA" b="1" dirty="0"/>
              <a:t>Amazon</a:t>
            </a:r>
            <a:r>
              <a:rPr lang="en-CA" dirty="0"/>
              <a:t> (various critical services and backend)</a:t>
            </a:r>
          </a:p>
          <a:p>
            <a:r>
              <a:rPr lang="en-CA" b="1" dirty="0"/>
              <a:t>LinkedIn</a:t>
            </a:r>
            <a:r>
              <a:rPr lang="en-CA" dirty="0"/>
              <a:t> (fine-tuned Java infrastructure)</a:t>
            </a:r>
          </a:p>
          <a:p>
            <a:r>
              <a:rPr lang="en-CA" b="1" dirty="0"/>
              <a:t>eBay</a:t>
            </a:r>
            <a:r>
              <a:rPr lang="en-CA" dirty="0"/>
              <a:t> (Java-based architecture for millions of transactions)</a:t>
            </a:r>
          </a:p>
          <a:p>
            <a:r>
              <a:rPr lang="en-CA" b="1" dirty="0"/>
              <a:t>Gmail</a:t>
            </a:r>
            <a:r>
              <a:rPr lang="en-CA" dirty="0"/>
              <a:t> (backend functionalities)</a:t>
            </a:r>
          </a:p>
          <a:p>
            <a:r>
              <a:rPr lang="en-CA" b="1" dirty="0"/>
              <a:t>Netflix</a:t>
            </a:r>
            <a:r>
              <a:rPr lang="en-CA" dirty="0"/>
              <a:t> (</a:t>
            </a:r>
            <a:r>
              <a:rPr lang="en-CA" dirty="0" err="1"/>
              <a:t>microservices</a:t>
            </a:r>
            <a:r>
              <a:rPr lang="en-CA" dirty="0"/>
              <a:t> built with Java)</a:t>
            </a:r>
          </a:p>
          <a:p>
            <a:r>
              <a:rPr lang="en-CA" b="1" dirty="0"/>
              <a:t>Google</a:t>
            </a:r>
            <a:r>
              <a:rPr lang="en-CA" dirty="0"/>
              <a:t> (many server-side applications)</a:t>
            </a:r>
          </a:p>
          <a:p>
            <a:r>
              <a:rPr lang="en-CA" b="1" dirty="0"/>
              <a:t>Salesforce</a:t>
            </a:r>
            <a:r>
              <a:rPr lang="en-CA" dirty="0"/>
              <a:t> (cloud platform development)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11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0942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 smtClean="0"/>
              <a:t>Big </a:t>
            </a:r>
            <a:r>
              <a:rPr lang="en-US" b="1" dirty="0"/>
              <a:t>Data Technologies:</a:t>
            </a:r>
            <a:r>
              <a:rPr lang="en-US" dirty="0"/>
              <a:t> Java is fundamental to many big data frameworks and tools, enabling distributed processing and analysis of massive datasets.</a:t>
            </a:r>
          </a:p>
          <a:p>
            <a:r>
              <a:rPr lang="en-US" b="1" dirty="0"/>
              <a:t>Apache </a:t>
            </a:r>
            <a:r>
              <a:rPr lang="en-US" b="1" dirty="0" err="1"/>
              <a:t>Hadoop</a:t>
            </a:r>
            <a:r>
              <a:rPr lang="en-US" dirty="0"/>
              <a:t> (a cornerstone of big data, written in Java)</a:t>
            </a:r>
          </a:p>
          <a:p>
            <a:r>
              <a:rPr lang="en-US" b="1" dirty="0"/>
              <a:t>Apache Spark</a:t>
            </a:r>
            <a:r>
              <a:rPr lang="en-US" dirty="0"/>
              <a:t> (often used with Java for big data processing)</a:t>
            </a:r>
          </a:p>
          <a:p>
            <a:r>
              <a:rPr lang="en-US" b="1" dirty="0"/>
              <a:t>Apache Kafka</a:t>
            </a:r>
            <a:r>
              <a:rPr lang="en-US" dirty="0"/>
              <a:t> (a stream processing platform)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12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972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Widely Used Java Applications &amp; </a:t>
            </a:r>
            <a:r>
              <a:rPr lang="en-US" dirty="0" smtClean="0"/>
              <a:t>Systems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/>
              <a:t>Scientific and Research Applications:</a:t>
            </a:r>
            <a:r>
              <a:rPr lang="en-US" dirty="0"/>
              <a:t> Java's strong computational capabilities make it suitable for scientific computing and simulations.</a:t>
            </a:r>
          </a:p>
          <a:p>
            <a:r>
              <a:rPr lang="en-US" b="1" dirty="0"/>
              <a:t>MATLAB</a:t>
            </a:r>
            <a:r>
              <a:rPr lang="en-US" dirty="0"/>
              <a:t> (relies on Java for core system and UI)</a:t>
            </a:r>
          </a:p>
          <a:p>
            <a:r>
              <a:rPr lang="en-US" b="1" dirty="0"/>
              <a:t>NASA </a:t>
            </a:r>
            <a:r>
              <a:rPr lang="en-US" b="1" dirty="0" err="1"/>
              <a:t>WorldWind</a:t>
            </a:r>
            <a:r>
              <a:rPr lang="en-US" dirty="0"/>
              <a:t> (an open-source virtual globe SDK)</a:t>
            </a:r>
          </a:p>
          <a:p>
            <a:r>
              <a:rPr lang="en-US" b="1" dirty="0"/>
              <a:t>JMARS (Java Mission-planning and Analysis for Remote Sensing)</a:t>
            </a:r>
            <a:r>
              <a:rPr lang="en-US" dirty="0"/>
              <a:t> used by NASA scientists.</a:t>
            </a:r>
          </a:p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53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 smtClean="0"/>
              <a:t>Benefits of Java Language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887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 smtClean="0"/>
              <a:t>Modularity</a:t>
            </a:r>
          </a:p>
          <a:p>
            <a:r>
              <a:rPr lang="en-US" b="1" dirty="0" smtClean="0"/>
              <a:t>Reusability</a:t>
            </a:r>
          </a:p>
          <a:p>
            <a:r>
              <a:rPr lang="en-US" b="1" dirty="0" smtClean="0"/>
              <a:t>Scalability</a:t>
            </a:r>
          </a:p>
          <a:p>
            <a:r>
              <a:rPr lang="en-US" b="1" dirty="0" smtClean="0"/>
              <a:t>Maintainability</a:t>
            </a:r>
          </a:p>
          <a:p>
            <a:r>
              <a:rPr lang="en-US" b="1" dirty="0" smtClean="0"/>
              <a:t>Security</a:t>
            </a:r>
            <a:endParaRPr sz="1600" dirty="0"/>
          </a:p>
          <a:p>
            <a:pPr marL="0" lvl="0" indent="0" algn="l" rtl="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315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262350" y="124236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 smtClean="0">
                <a:solidFill>
                  <a:srgbClr val="0070C0"/>
                </a:solidFill>
              </a:rPr>
              <a:t>My Expertise on Java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9477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AI Adoption Mechanisms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1016067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CA" sz="1600" dirty="0"/>
              <a:t>Java </a:t>
            </a:r>
            <a:r>
              <a:rPr lang="en-CA" sz="1600" dirty="0" smtClean="0"/>
              <a:t>Android</a:t>
            </a:r>
            <a:r>
              <a:rPr lang="en-CA" sz="1600" dirty="0"/>
              <a:t>: 1.5 years experience in </a:t>
            </a:r>
            <a:r>
              <a:rPr lang="en-CA" sz="1600" dirty="0" smtClean="0"/>
              <a:t>Software Company</a:t>
            </a:r>
            <a:r>
              <a:rPr lang="en-CA" sz="1600" dirty="0"/>
              <a:t>, </a:t>
            </a:r>
            <a:endParaRPr lang="en-CA" sz="1600" dirty="0" smtClean="0"/>
          </a:p>
          <a:p>
            <a:pPr lvl="0">
              <a:lnSpc>
                <a:spcPct val="150000"/>
              </a:lnSpc>
            </a:pPr>
            <a:r>
              <a:rPr lang="en-CA" sz="1600" dirty="0" smtClean="0"/>
              <a:t>Working </a:t>
            </a:r>
            <a:r>
              <a:rPr lang="en-CA" sz="1600" dirty="0"/>
              <a:t>on advanced Java JPMS: </a:t>
            </a:r>
            <a:r>
              <a:rPr lang="en-CA" sz="1600" dirty="0" smtClean="0"/>
              <a:t>6 </a:t>
            </a:r>
            <a:r>
              <a:rPr lang="en-CA" sz="1600" dirty="0"/>
              <a:t>years, </a:t>
            </a:r>
            <a:endParaRPr lang="en-CA" sz="1600" dirty="0" smtClean="0"/>
          </a:p>
          <a:p>
            <a:pPr lvl="0">
              <a:lnSpc>
                <a:spcPct val="150000"/>
              </a:lnSpc>
            </a:pPr>
            <a:r>
              <a:rPr lang="en-CA" sz="1600" dirty="0"/>
              <a:t>W</a:t>
            </a:r>
            <a:r>
              <a:rPr lang="en-CA" sz="1600" dirty="0" smtClean="0"/>
              <a:t>orked </a:t>
            </a:r>
            <a:r>
              <a:rPr lang="en-CA" sz="1600" dirty="0"/>
              <a:t>on Java obfuscated code, </a:t>
            </a:r>
            <a:endParaRPr lang="en-CA" sz="1600" dirty="0" smtClean="0"/>
          </a:p>
          <a:p>
            <a:pPr lvl="0">
              <a:lnSpc>
                <a:spcPct val="150000"/>
              </a:lnSpc>
            </a:pPr>
            <a:r>
              <a:rPr lang="en-CA" sz="1600" dirty="0"/>
              <a:t>D</a:t>
            </a:r>
            <a:r>
              <a:rPr lang="en-CA" sz="1600" dirty="0" smtClean="0"/>
              <a:t>eveloped </a:t>
            </a:r>
            <a:r>
              <a:rPr lang="en-CA" sz="1600" dirty="0"/>
              <a:t>a tool for JAVA design pattern </a:t>
            </a:r>
            <a:r>
              <a:rPr lang="en-CA" sz="1600" dirty="0" smtClean="0"/>
              <a:t>detection (published ICSE 19, USA), </a:t>
            </a:r>
          </a:p>
          <a:p>
            <a:pPr lvl="0">
              <a:lnSpc>
                <a:spcPct val="150000"/>
              </a:lnSpc>
            </a:pPr>
            <a:r>
              <a:rPr lang="en-CA" sz="1600" dirty="0"/>
              <a:t>W</a:t>
            </a:r>
            <a:r>
              <a:rPr lang="en-CA" sz="1600" dirty="0" smtClean="0"/>
              <a:t>orking </a:t>
            </a:r>
            <a:r>
              <a:rPr lang="en-CA" sz="1600" dirty="0"/>
              <a:t>on </a:t>
            </a:r>
            <a:r>
              <a:rPr lang="en-CA" sz="1600" dirty="0" smtClean="0"/>
              <a:t>Java </a:t>
            </a:r>
            <a:r>
              <a:rPr lang="en-CA" sz="1600" dirty="0"/>
              <a:t>jar extraction and </a:t>
            </a:r>
            <a:r>
              <a:rPr lang="en-CA" sz="1600" dirty="0" smtClean="0"/>
              <a:t>processing and analysis, </a:t>
            </a:r>
          </a:p>
          <a:p>
            <a:pPr lvl="0">
              <a:lnSpc>
                <a:spcPct val="150000"/>
              </a:lnSpc>
            </a:pPr>
            <a:r>
              <a:rPr lang="en-CA" sz="1600" dirty="0" smtClean="0"/>
              <a:t>Working </a:t>
            </a:r>
            <a:r>
              <a:rPr lang="en-CA" sz="1600" dirty="0"/>
              <a:t>on </a:t>
            </a:r>
            <a:r>
              <a:rPr lang="en-CA" sz="1600" dirty="0" smtClean="0"/>
              <a:t>Java </a:t>
            </a:r>
            <a:r>
              <a:rPr lang="en-CA" sz="1600" dirty="0"/>
              <a:t>architecture, </a:t>
            </a:r>
            <a:endParaRPr lang="en-CA" sz="1600" dirty="0" smtClean="0"/>
          </a:p>
          <a:p>
            <a:pPr lvl="0">
              <a:lnSpc>
                <a:spcPct val="150000"/>
              </a:lnSpc>
            </a:pPr>
            <a:r>
              <a:rPr lang="en-CA" sz="1600" dirty="0"/>
              <a:t>W</a:t>
            </a:r>
            <a:r>
              <a:rPr lang="en-CA" sz="1600" dirty="0" smtClean="0"/>
              <a:t>orking </a:t>
            </a:r>
            <a:r>
              <a:rPr lang="en-CA" sz="1600" dirty="0"/>
              <a:t>on Java Soot </a:t>
            </a:r>
            <a:r>
              <a:rPr lang="en-CA" sz="1600" dirty="0" smtClean="0"/>
              <a:t>Framework </a:t>
            </a:r>
            <a:r>
              <a:rPr lang="en-CA" sz="1600" dirty="0" err="1"/>
              <a:t>bytecode</a:t>
            </a:r>
            <a:r>
              <a:rPr lang="en-CA" sz="1600" dirty="0"/>
              <a:t> </a:t>
            </a:r>
            <a:r>
              <a:rPr lang="en-CA" sz="1600" dirty="0" smtClean="0"/>
              <a:t>and security analysis</a:t>
            </a: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16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773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17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265" y="176184"/>
            <a:ext cx="5143500" cy="4683833"/>
          </a:xfrm>
          <a:prstGeom prst="rect">
            <a:avLst/>
          </a:prstGeom>
        </p:spPr>
      </p:pic>
      <p:pic>
        <p:nvPicPr>
          <p:cNvPr id="5124" name="Picture 4" descr="Generated 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3793" y="855195"/>
            <a:ext cx="3599157" cy="3580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43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18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 descr="PC Components. CPU GPU Motherboard Cooler, SSD and Hand Drawn Memory Modules,  System Unit and Power Supply Stock Vector - Illustration of symbol, disk:  24725514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665" y="355787"/>
            <a:ext cx="6802084" cy="430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1312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19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Gener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046" y="177617"/>
            <a:ext cx="5966625" cy="4414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4518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262350" y="124236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 smtClean="0">
                <a:solidFill>
                  <a:srgbClr val="0070C0"/>
                </a:solidFill>
              </a:rPr>
              <a:t>Class Extraction and UML </a:t>
            </a:r>
            <a:r>
              <a:rPr lang="en-US" dirty="0" smtClean="0">
                <a:solidFill>
                  <a:srgbClr val="0070C0"/>
                </a:solidFill>
              </a:rPr>
              <a:t>of Real System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20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36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Bank Account Management System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879709"/>
            <a:ext cx="8520600" cy="3962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/>
              <a:t>A Bank Account Management System should allow users to create, update, and delete customer accounts, each with a unique account number. 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Account </a:t>
            </a:r>
            <a:r>
              <a:rPr lang="en-US" sz="1600" dirty="0"/>
              <a:t>holder properties must include name, address, phone number, date of birth, account type (savings/current), and current balance. 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The </a:t>
            </a:r>
            <a:r>
              <a:rPr lang="en-US" sz="1600" dirty="0"/>
              <a:t>system should support core operations like deposit, withdrawal, balance check, and account statement generation. Withdrawals must be validated to prevent overdrafts based on the current balance</a:t>
            </a:r>
            <a:r>
              <a:rPr lang="en-US" sz="1600" dirty="0" smtClean="0"/>
              <a:t>.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All transactions should be logged with timestamps for tracking and security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 </a:t>
            </a:r>
            <a:r>
              <a:rPr lang="en-US" sz="1600" dirty="0"/>
              <a:t>Basic authentication should protect account access, and data must be stored persistently using file handling or a simple database.</a:t>
            </a: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21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16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Bank Account Management System</a:t>
            </a:r>
            <a:endParaRPr lang="en-US" dirty="0"/>
          </a:p>
        </p:txBody>
      </p:sp>
      <p:sp>
        <p:nvSpPr>
          <p:cNvPr id="77" name="Google Shape;77;p2"/>
          <p:cNvSpPr txBox="1">
            <a:spLocks noGrp="1"/>
          </p:cNvSpPr>
          <p:nvPr>
            <p:ph type="body" idx="1"/>
          </p:nvPr>
        </p:nvSpPr>
        <p:spPr>
          <a:xfrm>
            <a:off x="311700" y="1016067"/>
            <a:ext cx="8520600" cy="3543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dirty="0"/>
              <a:t>A </a:t>
            </a:r>
            <a:r>
              <a:rPr lang="en-US" sz="1600" dirty="0">
                <a:solidFill>
                  <a:srgbClr val="00B0F0"/>
                </a:solidFill>
              </a:rPr>
              <a:t>Bank Account Management </a:t>
            </a:r>
            <a:r>
              <a:rPr lang="en-US" sz="1600" dirty="0"/>
              <a:t>System should allow </a:t>
            </a:r>
            <a:r>
              <a:rPr lang="en-US" sz="1600" dirty="0">
                <a:solidFill>
                  <a:srgbClr val="00B0F0"/>
                </a:solidFill>
              </a:rPr>
              <a:t>users </a:t>
            </a:r>
            <a:r>
              <a:rPr lang="en-US" sz="1600" dirty="0"/>
              <a:t>to </a:t>
            </a:r>
            <a:r>
              <a:rPr lang="en-US" sz="1600" i="1" dirty="0">
                <a:solidFill>
                  <a:srgbClr val="FF0000"/>
                </a:solidFill>
              </a:rPr>
              <a:t>create, update, and delete </a:t>
            </a:r>
            <a:r>
              <a:rPr lang="en-US" sz="1600" dirty="0"/>
              <a:t>customer </a:t>
            </a:r>
            <a:r>
              <a:rPr lang="en-US" sz="1600" dirty="0">
                <a:solidFill>
                  <a:srgbClr val="00B0F0"/>
                </a:solidFill>
              </a:rPr>
              <a:t>accounts</a:t>
            </a:r>
            <a:r>
              <a:rPr lang="en-US" sz="1600" dirty="0"/>
              <a:t>, each with a unique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account number</a:t>
            </a:r>
            <a:r>
              <a:rPr lang="en-US" sz="1600" dirty="0"/>
              <a:t>. 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>
                <a:solidFill>
                  <a:srgbClr val="00B0F0"/>
                </a:solidFill>
              </a:rPr>
              <a:t>Account </a:t>
            </a:r>
            <a:r>
              <a:rPr lang="en-US" sz="1600" dirty="0">
                <a:solidFill>
                  <a:srgbClr val="00B0F0"/>
                </a:solidFill>
              </a:rPr>
              <a:t>holder </a:t>
            </a:r>
            <a:r>
              <a:rPr lang="en-US" sz="1600" dirty="0"/>
              <a:t>properties must include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name, address, phone number, date of birth, account type (savings/current), and current balance</a:t>
            </a:r>
            <a:r>
              <a:rPr lang="en-US" sz="1600" dirty="0"/>
              <a:t>. 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The </a:t>
            </a:r>
            <a:r>
              <a:rPr lang="en-US" sz="1600" dirty="0"/>
              <a:t>system should support core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operations </a:t>
            </a:r>
            <a:r>
              <a:rPr lang="en-US" sz="1600" dirty="0"/>
              <a:t>like </a:t>
            </a:r>
            <a:r>
              <a:rPr lang="en-US" sz="1600" i="1" dirty="0">
                <a:solidFill>
                  <a:srgbClr val="FF0000"/>
                </a:solidFill>
              </a:rPr>
              <a:t>deposit, withdrawal, balance check, and account statement generation</a:t>
            </a:r>
            <a:r>
              <a:rPr lang="en-US" sz="1600" dirty="0"/>
              <a:t>. Withdrawals must be </a:t>
            </a:r>
            <a:r>
              <a:rPr lang="en-US" sz="1600" i="1" dirty="0">
                <a:solidFill>
                  <a:srgbClr val="FF0000"/>
                </a:solidFill>
              </a:rPr>
              <a:t>validated</a:t>
            </a:r>
            <a:r>
              <a:rPr lang="en-US" sz="1600" dirty="0"/>
              <a:t> to prevent overdrafts based on the current balance</a:t>
            </a:r>
            <a:r>
              <a:rPr lang="en-US" sz="1600" dirty="0" smtClean="0"/>
              <a:t>.</a:t>
            </a:r>
          </a:p>
          <a:p>
            <a:pPr lvl="0">
              <a:lnSpc>
                <a:spcPct val="150000"/>
              </a:lnSpc>
            </a:pPr>
            <a:r>
              <a:rPr lang="en-US" sz="1600" dirty="0"/>
              <a:t>All </a:t>
            </a:r>
            <a:r>
              <a:rPr lang="en-US" sz="1600" dirty="0">
                <a:solidFill>
                  <a:srgbClr val="00B0F0"/>
                </a:solidFill>
              </a:rPr>
              <a:t>transactions </a:t>
            </a:r>
            <a:r>
              <a:rPr lang="en-US" sz="1600" dirty="0"/>
              <a:t>should be logged with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timestamps</a:t>
            </a:r>
            <a:r>
              <a:rPr lang="en-US" sz="1600" dirty="0"/>
              <a:t> for tracking and security</a:t>
            </a:r>
            <a:endParaRPr lang="en-US" sz="1600" dirty="0" smtClean="0"/>
          </a:p>
          <a:p>
            <a:pPr lvl="0">
              <a:lnSpc>
                <a:spcPct val="150000"/>
              </a:lnSpc>
            </a:pPr>
            <a:r>
              <a:rPr lang="en-US" sz="1600" dirty="0" smtClean="0"/>
              <a:t> </a:t>
            </a:r>
            <a:r>
              <a:rPr lang="en-US" sz="1600" dirty="0"/>
              <a:t>Basic authentication should protect account access, and data must be stored persistently using file handling or a simple database.</a:t>
            </a:r>
            <a:endParaRPr sz="1600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22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522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23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2417568" y="447332"/>
            <a:ext cx="4572000" cy="433965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200" dirty="0" smtClean="0"/>
              <a:t>class </a:t>
            </a:r>
            <a:r>
              <a:rPr lang="en-CA" sz="1200" dirty="0" err="1"/>
              <a:t>BankAccount</a:t>
            </a:r>
            <a:r>
              <a:rPr lang="en-CA" sz="1200" dirty="0"/>
              <a:t> {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accountNumber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accountHolderName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address: String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phoneNumber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dateOfBirth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accountType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balance: double</a:t>
            </a:r>
          </a:p>
          <a:p>
            <a:endParaRPr lang="en-CA" sz="1200" dirty="0"/>
          </a:p>
          <a:p>
            <a:r>
              <a:rPr lang="en-CA" sz="1200" dirty="0"/>
              <a:t>    + deposit(amount: double): void</a:t>
            </a:r>
          </a:p>
          <a:p>
            <a:r>
              <a:rPr lang="en-CA" sz="1200" dirty="0"/>
              <a:t>    + withdraw(amount: double): </a:t>
            </a:r>
            <a:r>
              <a:rPr lang="en-CA" sz="1200" dirty="0" err="1"/>
              <a:t>boolean</a:t>
            </a:r>
            <a:endParaRPr lang="en-CA" sz="1200" dirty="0"/>
          </a:p>
          <a:p>
            <a:r>
              <a:rPr lang="en-CA" sz="1200" dirty="0"/>
              <a:t>    + </a:t>
            </a:r>
            <a:r>
              <a:rPr lang="en-CA" sz="1200" dirty="0" err="1"/>
              <a:t>getBalance</a:t>
            </a:r>
            <a:r>
              <a:rPr lang="en-CA" sz="1200" dirty="0"/>
              <a:t>(): double</a:t>
            </a:r>
          </a:p>
          <a:p>
            <a:r>
              <a:rPr lang="en-CA" sz="1200" dirty="0"/>
              <a:t>    + </a:t>
            </a:r>
            <a:r>
              <a:rPr lang="en-CA" sz="1200" dirty="0" err="1"/>
              <a:t>getAccountDetails</a:t>
            </a:r>
            <a:r>
              <a:rPr lang="en-CA" sz="1200" dirty="0"/>
              <a:t>(): String</a:t>
            </a:r>
          </a:p>
          <a:p>
            <a:r>
              <a:rPr lang="en-CA" sz="1200" dirty="0"/>
              <a:t>}</a:t>
            </a:r>
          </a:p>
          <a:p>
            <a:endParaRPr lang="en-CA" sz="1200" dirty="0"/>
          </a:p>
          <a:p>
            <a:r>
              <a:rPr lang="en-CA" sz="1200" dirty="0"/>
              <a:t>class Transaction {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transactionId</a:t>
            </a:r>
            <a:r>
              <a:rPr lang="en-CA" sz="1200" dirty="0"/>
              <a:t>: String</a:t>
            </a:r>
          </a:p>
          <a:p>
            <a:r>
              <a:rPr lang="en-CA" sz="1200" dirty="0"/>
              <a:t>    - date: String</a:t>
            </a:r>
          </a:p>
          <a:p>
            <a:r>
              <a:rPr lang="en-CA" sz="1200" dirty="0"/>
              <a:t>    - type: String</a:t>
            </a:r>
          </a:p>
          <a:p>
            <a:r>
              <a:rPr lang="en-CA" sz="1200" dirty="0"/>
              <a:t>    - amount: double</a:t>
            </a:r>
          </a:p>
          <a:p>
            <a:r>
              <a:rPr lang="en-CA" sz="1200" dirty="0"/>
              <a:t>    - </a:t>
            </a:r>
            <a:r>
              <a:rPr lang="en-CA" sz="1200" dirty="0" err="1"/>
              <a:t>accountNumber</a:t>
            </a:r>
            <a:r>
              <a:rPr lang="en-CA" sz="1200" dirty="0"/>
              <a:t>: String</a:t>
            </a:r>
          </a:p>
          <a:p>
            <a:r>
              <a:rPr lang="en-CA" sz="1200" dirty="0" smtClean="0"/>
              <a:t>    </a:t>
            </a:r>
            <a:r>
              <a:rPr lang="en-CA" sz="1200" dirty="0"/>
              <a:t>+ </a:t>
            </a:r>
            <a:r>
              <a:rPr lang="en-CA" sz="1200" dirty="0" err="1"/>
              <a:t>getTransactionDetails</a:t>
            </a:r>
            <a:r>
              <a:rPr lang="en-CA" sz="1200" dirty="0"/>
              <a:t>(): String</a:t>
            </a:r>
          </a:p>
          <a:p>
            <a:r>
              <a:rPr lang="en-CA" sz="1200" dirty="0" smtClean="0"/>
              <a:t>}</a:t>
            </a:r>
            <a:endParaRPr lang="en-CA" sz="1200" dirty="0"/>
          </a:p>
        </p:txBody>
      </p:sp>
    </p:spTree>
    <p:extLst>
      <p:ext uri="{BB962C8B-B14F-4D97-AF65-F5344CB8AC3E}">
        <p14:creationId xmlns:p14="http://schemas.microsoft.com/office/powerpoint/2010/main" val="3092727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24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/>
        </p:nvSpPr>
        <p:spPr>
          <a:xfrm>
            <a:off x="1256479" y="549578"/>
            <a:ext cx="7433610" cy="30315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CA" sz="900" dirty="0"/>
          </a:p>
          <a:p>
            <a:r>
              <a:rPr lang="en-CA" dirty="0"/>
              <a:t>class </a:t>
            </a:r>
            <a:r>
              <a:rPr lang="en-CA" dirty="0" err="1"/>
              <a:t>BankSystem</a:t>
            </a:r>
            <a:r>
              <a:rPr lang="en-CA" dirty="0"/>
              <a:t> {</a:t>
            </a:r>
          </a:p>
          <a:p>
            <a:r>
              <a:rPr lang="en-CA" dirty="0"/>
              <a:t>    - accounts: List&lt;</a:t>
            </a:r>
            <a:r>
              <a:rPr lang="en-CA" dirty="0" err="1"/>
              <a:t>BankAccount</a:t>
            </a:r>
            <a:r>
              <a:rPr lang="en-CA" dirty="0"/>
              <a:t>&gt;</a:t>
            </a:r>
          </a:p>
          <a:p>
            <a:r>
              <a:rPr lang="en-CA" dirty="0"/>
              <a:t>    - transactions: List&lt;Transaction&gt;</a:t>
            </a:r>
          </a:p>
          <a:p>
            <a:endParaRPr lang="en-CA" dirty="0"/>
          </a:p>
          <a:p>
            <a:r>
              <a:rPr lang="en-CA" dirty="0"/>
              <a:t>    + </a:t>
            </a:r>
            <a:r>
              <a:rPr lang="en-CA" dirty="0" err="1"/>
              <a:t>createAccount</a:t>
            </a:r>
            <a:r>
              <a:rPr lang="en-CA" dirty="0"/>
              <a:t>(account: </a:t>
            </a:r>
            <a:r>
              <a:rPr lang="en-CA" dirty="0" err="1"/>
              <a:t>BankAccount</a:t>
            </a:r>
            <a:r>
              <a:rPr lang="en-CA" dirty="0"/>
              <a:t>): void</a:t>
            </a:r>
          </a:p>
          <a:p>
            <a:r>
              <a:rPr lang="en-CA" dirty="0"/>
              <a:t>    + </a:t>
            </a:r>
            <a:r>
              <a:rPr lang="en-CA" dirty="0" err="1"/>
              <a:t>deleteAccount</a:t>
            </a:r>
            <a:r>
              <a:rPr lang="en-CA" dirty="0"/>
              <a:t>(</a:t>
            </a:r>
            <a:r>
              <a:rPr lang="en-CA" dirty="0" err="1"/>
              <a:t>accountNumber</a:t>
            </a:r>
            <a:r>
              <a:rPr lang="en-CA" dirty="0"/>
              <a:t>: String): void</a:t>
            </a:r>
          </a:p>
          <a:p>
            <a:r>
              <a:rPr lang="en-CA" dirty="0"/>
              <a:t>    + </a:t>
            </a:r>
            <a:r>
              <a:rPr lang="en-CA" dirty="0" err="1"/>
              <a:t>findAccount</a:t>
            </a:r>
            <a:r>
              <a:rPr lang="en-CA" dirty="0"/>
              <a:t>(</a:t>
            </a:r>
            <a:r>
              <a:rPr lang="en-CA" dirty="0" err="1"/>
              <a:t>accountNumber</a:t>
            </a:r>
            <a:r>
              <a:rPr lang="en-CA" dirty="0"/>
              <a:t>: String): </a:t>
            </a:r>
            <a:r>
              <a:rPr lang="en-CA" dirty="0" err="1"/>
              <a:t>BankAccount</a:t>
            </a:r>
            <a:endParaRPr lang="en-CA" dirty="0"/>
          </a:p>
          <a:p>
            <a:r>
              <a:rPr lang="en-CA" dirty="0"/>
              <a:t>    + </a:t>
            </a:r>
            <a:r>
              <a:rPr lang="en-CA" dirty="0" err="1"/>
              <a:t>performTransaction</a:t>
            </a:r>
            <a:r>
              <a:rPr lang="en-CA" dirty="0"/>
              <a:t>(</a:t>
            </a:r>
            <a:r>
              <a:rPr lang="en-CA" dirty="0" err="1"/>
              <a:t>accountNumber</a:t>
            </a:r>
            <a:r>
              <a:rPr lang="en-CA" dirty="0"/>
              <a:t>: String, type: String, amount: double): void</a:t>
            </a:r>
          </a:p>
          <a:p>
            <a:r>
              <a:rPr lang="en-CA" dirty="0"/>
              <a:t>    + </a:t>
            </a:r>
            <a:r>
              <a:rPr lang="en-CA" dirty="0" err="1"/>
              <a:t>getAccountStatement</a:t>
            </a:r>
            <a:r>
              <a:rPr lang="en-CA" dirty="0"/>
              <a:t>(</a:t>
            </a:r>
            <a:r>
              <a:rPr lang="en-CA" dirty="0" err="1"/>
              <a:t>accountNumber</a:t>
            </a:r>
            <a:r>
              <a:rPr lang="en-CA" dirty="0"/>
              <a:t>: String): List&lt;Transaction&gt;</a:t>
            </a:r>
          </a:p>
          <a:p>
            <a:r>
              <a:rPr lang="en-CA" dirty="0"/>
              <a:t>}</a:t>
            </a:r>
          </a:p>
          <a:p>
            <a:endParaRPr lang="en-CA" dirty="0"/>
          </a:p>
          <a:p>
            <a:r>
              <a:rPr lang="en-CA" dirty="0" err="1"/>
              <a:t>BankSystem</a:t>
            </a:r>
            <a:r>
              <a:rPr lang="en-CA" dirty="0"/>
              <a:t> --&gt; </a:t>
            </a:r>
            <a:r>
              <a:rPr lang="en-CA" dirty="0" err="1"/>
              <a:t>BankAccount</a:t>
            </a:r>
            <a:r>
              <a:rPr lang="en-CA" dirty="0"/>
              <a:t> : manages</a:t>
            </a:r>
          </a:p>
          <a:p>
            <a:r>
              <a:rPr lang="en-CA" dirty="0" err="1"/>
              <a:t>BankSystem</a:t>
            </a:r>
            <a:r>
              <a:rPr lang="en-CA" dirty="0"/>
              <a:t> --&gt; Transaction : </a:t>
            </a:r>
            <a:r>
              <a:rPr lang="en-CA" dirty="0" smtClean="0"/>
              <a:t>logs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3052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UML Diagram</a:t>
            </a:r>
            <a:endParaRPr lang="en-US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Class Nota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184" y="1285992"/>
            <a:ext cx="6519212" cy="2897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2095227" y="4736906"/>
            <a:ext cx="4572000" cy="2462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CA" sz="1000" dirty="0"/>
              <a:t>https://www.tutorialspoint.com/uml/uml_basic_notations.htm</a:t>
            </a:r>
          </a:p>
        </p:txBody>
      </p:sp>
    </p:spTree>
    <p:extLst>
      <p:ext uri="{BB962C8B-B14F-4D97-AF65-F5344CB8AC3E}">
        <p14:creationId xmlns:p14="http://schemas.microsoft.com/office/powerpoint/2010/main" val="3179728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"/>
          <p:cNvSpPr txBox="1">
            <a:spLocks noGrp="1"/>
          </p:cNvSpPr>
          <p:nvPr>
            <p:ph type="title"/>
          </p:nvPr>
        </p:nvSpPr>
        <p:spPr>
          <a:xfrm>
            <a:off x="311700" y="172309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smtClean="0"/>
              <a:t>UML Diagram</a:t>
            </a:r>
            <a:endParaRPr lang="en-US" dirty="0"/>
          </a:p>
        </p:txBody>
      </p:sp>
      <p:sp>
        <p:nvSpPr>
          <p:cNvPr id="78" name="Google Shape;7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26</a:t>
            </a:fld>
            <a:endParaRPr dirty="0"/>
          </a:p>
        </p:txBody>
      </p:sp>
      <p:pic>
        <p:nvPicPr>
          <p:cNvPr id="3" name="Picture 2" descr="Not Found">
            <a:extLst>
              <a:ext uri="{FF2B5EF4-FFF2-40B4-BE49-F238E27FC236}">
                <a16:creationId xmlns:a16="http://schemas.microsoft.com/office/drawing/2014/main" xmlns="" id="{A3D9D457-3B4F-320E-FE2E-3D8C7A4DA1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8786" y="0"/>
            <a:ext cx="728328" cy="775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Generated 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1428" y="757568"/>
            <a:ext cx="5209379" cy="4027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0433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009668"/>
      </a:accent2>
      <a:accent3>
        <a:srgbClr val="4DB6AC"/>
      </a:accent3>
      <a:accent4>
        <a:srgbClr val="FF9800"/>
      </a:accent4>
      <a:accent5>
        <a:srgbClr val="CE93D8"/>
      </a:accent5>
      <a:accent6>
        <a:srgbClr val="EEFF41"/>
      </a:accent6>
      <a:hlink>
        <a:srgbClr val="CE93D8"/>
      </a:hlink>
      <a:folHlink>
        <a:srgbClr val="CE93D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14845</TotalTime>
  <Words>1011</Words>
  <Application>Microsoft Office PowerPoint</Application>
  <PresentationFormat>On-screen Show (16:9)</PresentationFormat>
  <Paragraphs>152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PT Sans Narrow</vt:lpstr>
      <vt:lpstr>Google Sans</vt:lpstr>
      <vt:lpstr>Open Sans</vt:lpstr>
      <vt:lpstr>Arial</vt:lpstr>
      <vt:lpstr>Tropic</vt:lpstr>
      <vt:lpstr>Introduction to Java</vt:lpstr>
      <vt:lpstr>Introducing Myself</vt:lpstr>
      <vt:lpstr>Education &amp; Profession</vt:lpstr>
      <vt:lpstr>PowerPoint Presentation</vt:lpstr>
      <vt:lpstr>Involvement of Projects</vt:lpstr>
      <vt:lpstr>Current Activities</vt:lpstr>
      <vt:lpstr>Application of Java Programming Language</vt:lpstr>
      <vt:lpstr>Widely Used Java Applications &amp; Systems</vt:lpstr>
      <vt:lpstr>Widely Used Java Applications &amp; Systems</vt:lpstr>
      <vt:lpstr>Widely Used Java Applications &amp; Systems</vt:lpstr>
      <vt:lpstr>Widely Used Java Applications &amp; Systems</vt:lpstr>
      <vt:lpstr>Widely Used Java Applications &amp; Systems</vt:lpstr>
      <vt:lpstr>Widely Used Java Applications &amp; Systems</vt:lpstr>
      <vt:lpstr>Benefits of Java Language</vt:lpstr>
      <vt:lpstr>My Expertise on Java</vt:lpstr>
      <vt:lpstr>AI Adoption Mechanisms</vt:lpstr>
      <vt:lpstr>PowerPoint Presentation</vt:lpstr>
      <vt:lpstr>PowerPoint Presentation</vt:lpstr>
      <vt:lpstr>PowerPoint Presentation</vt:lpstr>
      <vt:lpstr>Class Extraction and UML of Real System</vt:lpstr>
      <vt:lpstr>Bank Account Management System</vt:lpstr>
      <vt:lpstr>Bank Account Management System</vt:lpstr>
      <vt:lpstr>PowerPoint Presentation</vt:lpstr>
      <vt:lpstr>PowerPoint Presentation</vt:lpstr>
      <vt:lpstr>UML Diagram</vt:lpstr>
      <vt:lpstr>UML Diagram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Architectural Change Detection and Classification for Design Change Artifacts Generation</dc:title>
  <dc:creator>Amit Kumar</dc:creator>
  <cp:lastModifiedBy>Microsoft account</cp:lastModifiedBy>
  <cp:revision>432</cp:revision>
  <dcterms:modified xsi:type="dcterms:W3CDTF">2025-07-29T08:10:22Z</dcterms:modified>
</cp:coreProperties>
</file>