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06" r:id="rId1"/>
  </p:sldMasterIdLst>
  <p:notesMasterIdLst>
    <p:notesMasterId r:id="rId54"/>
  </p:notesMasterIdLst>
  <p:handoutMasterIdLst>
    <p:handoutMasterId r:id="rId55"/>
  </p:handoutMasterIdLst>
  <p:sldIdLst>
    <p:sldId id="410" r:id="rId2"/>
    <p:sldId id="412" r:id="rId3"/>
    <p:sldId id="465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1" r:id="rId21"/>
    <p:sldId id="432" r:id="rId22"/>
    <p:sldId id="433" r:id="rId23"/>
    <p:sldId id="434" r:id="rId24"/>
    <p:sldId id="435" r:id="rId25"/>
    <p:sldId id="436" r:id="rId26"/>
    <p:sldId id="437" r:id="rId27"/>
    <p:sldId id="438" r:id="rId28"/>
    <p:sldId id="439" r:id="rId29"/>
    <p:sldId id="440" r:id="rId30"/>
    <p:sldId id="441" r:id="rId31"/>
    <p:sldId id="442" r:id="rId32"/>
    <p:sldId id="443" r:id="rId33"/>
    <p:sldId id="444" r:id="rId34"/>
    <p:sldId id="445" r:id="rId35"/>
    <p:sldId id="446" r:id="rId36"/>
    <p:sldId id="447" r:id="rId37"/>
    <p:sldId id="448" r:id="rId38"/>
    <p:sldId id="449" r:id="rId39"/>
    <p:sldId id="451" r:id="rId40"/>
    <p:sldId id="452" r:id="rId41"/>
    <p:sldId id="453" r:id="rId42"/>
    <p:sldId id="454" r:id="rId43"/>
    <p:sldId id="455" r:id="rId44"/>
    <p:sldId id="456" r:id="rId45"/>
    <p:sldId id="457" r:id="rId46"/>
    <p:sldId id="458" r:id="rId47"/>
    <p:sldId id="459" r:id="rId48"/>
    <p:sldId id="460" r:id="rId49"/>
    <p:sldId id="461" r:id="rId50"/>
    <p:sldId id="462" r:id="rId51"/>
    <p:sldId id="463" r:id="rId52"/>
    <p:sldId id="464" r:id="rId53"/>
  </p:sldIdLst>
  <p:sldSz cx="9144000" cy="6858000" type="screen4x3"/>
  <p:notesSz cx="69977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66"/>
    <a:srgbClr val="FF33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2" autoAdjust="0"/>
    <p:restoredTop sz="94709" autoAdjust="0"/>
  </p:normalViewPr>
  <p:slideViewPr>
    <p:cSldViewPr>
      <p:cViewPr varScale="1">
        <p:scale>
          <a:sx n="113" d="100"/>
          <a:sy n="113" d="100"/>
        </p:scale>
        <p:origin x="162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47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3A647149-C540-4170-A38F-0A09A99D24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29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29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8DE2E0D8-9FD0-438B-9192-39ECE2D425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593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A061-2ECC-9FAF-6EF1-4236B245B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744E5-8BD6-42D7-C0CF-57193FA74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906B6-56B6-174E-2D99-E16CD6DB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77473-E2E4-C91D-D8E0-37097583A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74493-BC4E-BD42-2C0E-BB685078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5AAAEA-B9AE-4F0F-88A0-3295E6BE017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A051A-77F1-A620-17B9-3925BBB8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8075-7A3E-6822-10E0-68EE76292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AA94B-716E-AA83-AAA3-C21827AE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8D069-7CDB-8E0C-8C9A-C02A1DB8A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D2B3C-D729-6E7B-ACEA-2DD7EB2C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2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9B5F-44A6-4BF8-14DC-CA7AD4C7C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A5773-4EE5-AC45-33F5-67FCA7A5E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EAA6A-AF4E-BD99-FDF1-6B8C108A2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4B6D9-0D63-5E4D-27FD-A0100AD2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054A4-B7F2-D867-D929-0F5C3BFAB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83C7BB-532F-4603-A62A-6E650560C0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03B2-CC4E-5C55-4DC9-E4303A17F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29982-FEDF-9500-8485-D179AB16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9F3E4-9180-5E5C-D43D-38C3DEEE4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346B0-3C44-929C-A8B0-D5DE66AD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9B250-F816-287B-3DD3-23672AD20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047-A56A-0186-367D-DE651764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3B26D2-45F7-4183-93B1-6A71DD5DDB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8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066D-BEF1-FB9E-01D4-E1CC6C13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8CCA4-0B35-609D-B1E9-5A00EF319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E844B-7412-18BB-6892-29D60FA63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1101F-5EC2-10FF-EFF4-70D79B162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474101-5BE0-A76E-9CA7-D7753B69E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1BAC71-F85A-11C0-D650-A65FEE037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A5CA51-0A5B-C403-9E2D-FD0FC9DDB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FB3952-A462-0DCE-1300-6617A98E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F555DC-36DE-4A06-AFB3-CA1244906A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55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F671-D293-AC10-ADC7-0283480B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8F951-A0B3-B9E9-2213-90D59C5E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30EDF-A41A-D715-A49F-1680BFE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CF3FE-40FC-B705-8761-D0CE8825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EF0F57-EA74-487F-BA9E-40281CAA99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21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F29CBE-877B-E811-82F7-4C92AF0F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C919D-5B34-D9AE-01A9-5DC71AF39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5962B-3406-F773-F865-9A3A0B3E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FD78ED-4819-40E5-BB76-A52891A2D9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52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E6E9-28AD-6828-97AD-0B891E316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2C99F-9435-6242-07FC-D70AAD46A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6755C-76B0-A1D0-A571-A2743030D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7440C-5715-3119-47FB-7A9A7D8AB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3C66C-A495-E4FB-6EA6-CE03685F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D151B-4243-8EA9-744E-7A795534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0EE599-9700-4A10-9E46-8D7E3926502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7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0770B-0AE6-0867-62F7-3EEB51C73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BD099A-DCF8-0D69-7E44-EEAE94EE9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0E918-3162-925B-CE8B-945771F15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F1462-9CFA-3FBE-603A-57A29841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2D87D-9308-27E1-BCE5-095C453D4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1C90C-BC0F-BAFA-2D8F-A53A55D7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A4C18F-F660-4C4C-A467-2EB3AAD85C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8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ACF2-CC97-8818-DE97-B11DECC5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4CBB1-F10F-754B-7243-E5611F9B3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B1251-7EA1-DFBC-755D-0ED95584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E8441-0ACD-5C0D-804F-38BE8524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8BEF8-F74F-B166-2E44-1089DDDA1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0C05D1-4B7B-456C-A2EA-CF83615E02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39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ADF878-404C-F14D-B72D-3077F0C7D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A12E5-828E-49E5-DB83-1CD32AB1F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E5913-112B-7C71-5187-9C65F9D2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8EFBD-A759-D203-CACD-A05A617E4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3C357-516E-E6D3-4B43-5923B6A3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E47BA9-60C5-4573-925E-95D90C2928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10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198438"/>
            <a:ext cx="758825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266825"/>
            <a:ext cx="4076700" cy="4905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266825"/>
            <a:ext cx="4076700" cy="4905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FD449-D1B0-461F-BC82-8D23BBE841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10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90600" y="304800"/>
            <a:ext cx="7924800" cy="586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90600" y="6324600"/>
            <a:ext cx="35052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858000" y="63246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4-</a:t>
            </a:r>
            <a:fld id="{AB59CB9D-DEBD-4B78-AF8B-530127721E2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6135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D4239-80FA-EC1A-BC7B-5E7355C2B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16837-8358-2425-7FA7-7953FCD37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A592E-7175-E36E-6C69-7EE2308EE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97C2F-9A79-CBDF-0F07-705C33BDE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9D188-E687-67D6-9798-63C33A7B0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0D4042-10A0-4E56-8C97-18A14869835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0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../examples/chap04/Die.java" TargetMode="External"/><Relationship Id="rId2" Type="http://schemas.openxmlformats.org/officeDocument/2006/relationships/hyperlink" Target="../examples/chap04/RollingDice.java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786" y="1785926"/>
            <a:ext cx="7772400" cy="118268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CSE 1201</a:t>
            </a:r>
            <a:br>
              <a:rPr lang="en-US" dirty="0"/>
            </a:br>
            <a:r>
              <a:rPr lang="en-US" dirty="0"/>
              <a:t>Object Oriented Programming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 bwMode="auto">
          <a:xfrm>
            <a:off x="857224" y="2928934"/>
            <a:ext cx="7772400" cy="82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sz="3200" dirty="0">
                <a:solidFill>
                  <a:srgbClr val="953A1F"/>
                </a:solidFill>
              </a:rPr>
              <a:t>Writing Classes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For preparing the slides I took materials from the following sources</a:t>
            </a:r>
          </a:p>
          <a:p>
            <a:pPr lvl="1">
              <a:defRPr/>
            </a:pPr>
            <a:r>
              <a:rPr lang="en-US" dirty="0"/>
              <a:t>Course Slides of Dr. </a:t>
            </a:r>
            <a:r>
              <a:rPr lang="en-US" dirty="0" err="1"/>
              <a:t>Tagrul</a:t>
            </a:r>
            <a:r>
              <a:rPr lang="en-US" dirty="0"/>
              <a:t> </a:t>
            </a:r>
            <a:r>
              <a:rPr lang="en-US" dirty="0" err="1"/>
              <a:t>Dayar</a:t>
            </a:r>
            <a:r>
              <a:rPr lang="en-US" dirty="0"/>
              <a:t>, </a:t>
            </a:r>
            <a:r>
              <a:rPr lang="en-US" dirty="0" err="1"/>
              <a:t>Bilkent</a:t>
            </a:r>
            <a:r>
              <a:rPr lang="en-US" dirty="0"/>
              <a:t> University</a:t>
            </a:r>
          </a:p>
          <a:p>
            <a:pPr lvl="1">
              <a:defRPr/>
            </a:pPr>
            <a:r>
              <a:rPr lang="en-US" dirty="0"/>
              <a:t>Java book “</a:t>
            </a:r>
            <a:r>
              <a:rPr lang="en-US" i="1" dirty="0"/>
              <a:t>Java Software Solutions</a:t>
            </a:r>
            <a:r>
              <a:rPr lang="en-US" dirty="0"/>
              <a:t>” by Lewis &amp; Loftus.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71472" y="1928802"/>
            <a:ext cx="7924800" cy="363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l">
              <a:spcBef>
                <a:spcPct val="7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</a:pPr>
            <a:r>
              <a:rPr kumimoji="1" lang="en-US" sz="2800" b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Anatomy of a Class</a:t>
            </a:r>
          </a:p>
          <a:p>
            <a:pPr marL="342900" indent="-342900" algn="l">
              <a:spcBef>
                <a:spcPct val="7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</a:pPr>
            <a:r>
              <a:rPr kumimoji="1" lang="en-US" sz="2800" b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Anatomy of a Method</a:t>
            </a:r>
          </a:p>
          <a:p>
            <a:pPr marL="342900" indent="-342900" algn="l">
              <a:spcBef>
                <a:spcPct val="7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</a:pPr>
            <a:endParaRPr kumimoji="1" lang="en-US" sz="28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Monotype Sorts" pitchFamily="2" charset="2"/>
              <a:buChar char="b"/>
              <a:tabLst/>
              <a:defRPr/>
            </a:pPr>
            <a:endParaRPr kumimoji="1" lang="en-US" sz="2800" b="1" i="0" u="none" strike="noStrike" kern="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Writing Classes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5029200"/>
          </a:xfrm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dirty="0"/>
              <a:t>The programs we’ve written in previous examples have used classes defined in the Java standard class library</a:t>
            </a:r>
          </a:p>
          <a:p>
            <a:pPr>
              <a:spcBef>
                <a:spcPct val="70000"/>
              </a:spcBef>
            </a:pPr>
            <a:r>
              <a:rPr lang="en-US" dirty="0"/>
              <a:t>Now we will begin to design programs that rely on classes that we write ourselves</a:t>
            </a:r>
          </a:p>
          <a:p>
            <a:pPr>
              <a:spcBef>
                <a:spcPct val="70000"/>
              </a:spcBef>
            </a:pPr>
            <a:r>
              <a:rPr lang="en-US" dirty="0"/>
              <a:t>The class that contains the </a:t>
            </a:r>
            <a:r>
              <a:rPr lang="en-US" dirty="0">
                <a:latin typeface="Courier New" pitchFamily="49" charset="0"/>
              </a:rPr>
              <a:t>main</a:t>
            </a:r>
            <a:r>
              <a:rPr lang="en-US" dirty="0"/>
              <a:t> method is just the starting point of a program</a:t>
            </a:r>
          </a:p>
          <a:p>
            <a:pPr>
              <a:spcBef>
                <a:spcPct val="70000"/>
              </a:spcBef>
            </a:pPr>
            <a:r>
              <a:rPr lang="en-US" dirty="0"/>
              <a:t>True object-oriented programming is based on defining classes that represent objects with well-defined characteristics and functionality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sample problem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method that will throw 2 Dice with varying number of sides a specified amount of times and reports how many times we got a snake eyes (both dice showing 1)</a:t>
            </a:r>
          </a:p>
          <a:p>
            <a:endParaRPr lang="en-US" dirty="0"/>
          </a:p>
          <a:p>
            <a:r>
              <a:rPr lang="en-US" dirty="0"/>
              <a:t>For example </a:t>
            </a:r>
            <a:r>
              <a:rPr lang="en-US" dirty="0" err="1"/>
              <a:t>numSnakeEyes</a:t>
            </a:r>
            <a:r>
              <a:rPr lang="en-US" dirty="0"/>
              <a:t>(6, 13, 100) should return the number of snake eyes after throwing a 6 sided dice and 13 sided dice 100 times.</a:t>
            </a:r>
          </a:p>
          <a:p>
            <a:endParaRPr lang="en-US" dirty="0"/>
          </a:p>
          <a:p>
            <a:r>
              <a:rPr lang="en-US" dirty="0"/>
              <a:t>We will first show a structured approach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dice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8001000" cy="54102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1600"/>
              <a:t>static Random rand = new Random();</a:t>
            </a:r>
          </a:p>
          <a:p>
            <a:pPr>
              <a:buFontTx/>
              <a:buNone/>
            </a:pPr>
            <a:endParaRPr lang="en-US" sz="1600"/>
          </a:p>
          <a:p>
            <a:pPr>
              <a:buFontTx/>
              <a:buNone/>
            </a:pPr>
            <a:r>
              <a:rPr lang="en-US" sz="1600"/>
              <a:t>static int roll(int numSides) {</a:t>
            </a:r>
          </a:p>
          <a:p>
            <a:pPr>
              <a:buFontTx/>
              <a:buNone/>
            </a:pPr>
            <a:r>
              <a:rPr lang="en-US" sz="1600"/>
              <a:t>	return 1 + rand.nextInt(numSides);</a:t>
            </a:r>
          </a:p>
          <a:p>
            <a:pPr>
              <a:buFontTx/>
              <a:buNone/>
            </a:pPr>
            <a:r>
              <a:rPr lang="en-US" sz="1600"/>
              <a:t>}</a:t>
            </a:r>
          </a:p>
          <a:p>
            <a:pPr>
              <a:buFontTx/>
              <a:buNone/>
            </a:pPr>
            <a:endParaRPr lang="en-US" sz="1600"/>
          </a:p>
          <a:p>
            <a:pPr>
              <a:buFontTx/>
              <a:buNone/>
            </a:pPr>
            <a:r>
              <a:rPr lang="en-US" sz="1600"/>
              <a:t>static int numSnakeEyes(int sides1, int sides2, int numThrows) {</a:t>
            </a:r>
          </a:p>
          <a:p>
            <a:pPr>
              <a:buFontTx/>
              <a:buNone/>
            </a:pPr>
            <a:r>
              <a:rPr lang="en-US" sz="1600"/>
              <a:t>	int count = 0;</a:t>
            </a:r>
          </a:p>
          <a:p>
            <a:pPr>
              <a:buFontTx/>
              <a:buNone/>
            </a:pPr>
            <a:r>
              <a:rPr lang="en-US" sz="1600"/>
              <a:t>	for(int i = 0; i &lt; numThrows; i++) {</a:t>
            </a:r>
          </a:p>
          <a:p>
            <a:pPr>
              <a:buFontTx/>
              <a:buNone/>
            </a:pPr>
            <a:r>
              <a:rPr lang="en-US" sz="1600"/>
              <a:t>		int face1 = roll(sides1);</a:t>
            </a:r>
          </a:p>
          <a:p>
            <a:pPr>
              <a:buFontTx/>
              <a:buNone/>
            </a:pPr>
            <a:r>
              <a:rPr lang="en-US" sz="1600"/>
              <a:t>		int face2 = roll(sides2);</a:t>
            </a:r>
          </a:p>
          <a:p>
            <a:pPr>
              <a:buFontTx/>
              <a:buNone/>
            </a:pPr>
            <a:r>
              <a:rPr lang="en-US" sz="1600"/>
              <a:t>		if (face1 == 1 &amp;&amp; face2 == 1)</a:t>
            </a:r>
          </a:p>
          <a:p>
            <a:pPr>
              <a:buFontTx/>
              <a:buNone/>
            </a:pPr>
            <a:r>
              <a:rPr lang="en-US" sz="1600"/>
              <a:t>			count++;</a:t>
            </a:r>
          </a:p>
          <a:p>
            <a:pPr>
              <a:buFontTx/>
              <a:buNone/>
            </a:pPr>
            <a:r>
              <a:rPr lang="en-US" sz="1600"/>
              <a:t>	}</a:t>
            </a:r>
          </a:p>
          <a:p>
            <a:pPr>
              <a:buFontTx/>
              <a:buNone/>
            </a:pPr>
            <a:endParaRPr lang="en-US" sz="1600"/>
          </a:p>
          <a:p>
            <a:pPr>
              <a:buFontTx/>
              <a:buNone/>
            </a:pPr>
            <a:r>
              <a:rPr lang="en-US" sz="1600"/>
              <a:t>	return count;</a:t>
            </a:r>
          </a:p>
          <a:p>
            <a:pPr>
              <a:buFontTx/>
              <a:buNone/>
            </a:pPr>
            <a:r>
              <a:rPr lang="en-US" sz="1600"/>
              <a:t>}</a:t>
            </a:r>
          </a:p>
          <a:p>
            <a:pPr>
              <a:buFontTx/>
              <a:buNone/>
            </a:pPr>
            <a:r>
              <a:rPr lang="en-US" sz="2000"/>
              <a:t>		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 Oriented Approach</a:t>
            </a:r>
          </a:p>
        </p:txBody>
      </p:sp>
      <p:sp>
        <p:nvSpPr>
          <p:cNvPr id="48131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70000"/>
              </a:spcBef>
            </a:pPr>
            <a:r>
              <a:rPr lang="en-US" dirty="0"/>
              <a:t>In OOP, we first focus on the </a:t>
            </a:r>
            <a:r>
              <a:rPr lang="en-US" dirty="0">
                <a:solidFill>
                  <a:srgbClr val="FF0000"/>
                </a:solidFill>
              </a:rPr>
              <a:t>main actors</a:t>
            </a:r>
            <a:r>
              <a:rPr lang="en-US" dirty="0"/>
              <a:t>, not how things are done.</a:t>
            </a:r>
          </a:p>
          <a:p>
            <a:pPr>
              <a:spcBef>
                <a:spcPct val="70000"/>
              </a:spcBef>
            </a:pPr>
            <a:r>
              <a:rPr lang="en-US" dirty="0"/>
              <a:t>The main </a:t>
            </a:r>
            <a:r>
              <a:rPr lang="en-US" dirty="0">
                <a:solidFill>
                  <a:srgbClr val="FF0000"/>
                </a:solidFill>
              </a:rPr>
              <a:t>actors here are dice objects</a:t>
            </a:r>
            <a:r>
              <a:rPr lang="en-US" dirty="0"/>
              <a:t>. We need to </a:t>
            </a:r>
            <a:r>
              <a:rPr lang="en-US" dirty="0">
                <a:solidFill>
                  <a:srgbClr val="FF0000"/>
                </a:solidFill>
              </a:rPr>
              <a:t>define a dice class </a:t>
            </a:r>
            <a:r>
              <a:rPr lang="en-US" dirty="0"/>
              <a:t>that captures the </a:t>
            </a:r>
            <a:r>
              <a:rPr lang="en-US" i="1" dirty="0">
                <a:solidFill>
                  <a:srgbClr val="FF0000"/>
                </a:solidFill>
              </a:rPr>
              <a:t>state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i="1" dirty="0">
                <a:solidFill>
                  <a:srgbClr val="FF0000"/>
                </a:solidFill>
              </a:rPr>
              <a:t>behavior </a:t>
            </a:r>
            <a:r>
              <a:rPr lang="en-US" i="1" dirty="0"/>
              <a:t>of a dice.</a:t>
            </a:r>
            <a:endParaRPr lang="en-US" dirty="0"/>
          </a:p>
          <a:p>
            <a:pPr>
              <a:spcBef>
                <a:spcPct val="70000"/>
              </a:spcBef>
            </a:pPr>
            <a:r>
              <a:rPr lang="en-US" dirty="0"/>
              <a:t>We can then instantiate as many dice objects as we need for any particular program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class can contain data declarations and method declarations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752600" y="2286000"/>
            <a:ext cx="2971800" cy="3810000"/>
            <a:chOff x="864" y="1488"/>
            <a:chExt cx="1872" cy="2400"/>
          </a:xfrm>
        </p:grpSpPr>
        <p:sp>
          <p:nvSpPr>
            <p:cNvPr id="15365" name="AutoShape 5"/>
            <p:cNvSpPr>
              <a:spLocks noChangeArrowheads="1"/>
            </p:cNvSpPr>
            <p:nvPr/>
          </p:nvSpPr>
          <p:spPr bwMode="auto">
            <a:xfrm>
              <a:off x="864" y="1488"/>
              <a:ext cx="1872" cy="2400"/>
            </a:xfrm>
            <a:prstGeom prst="flowChartAlternateProcess">
              <a:avLst/>
            </a:prstGeom>
            <a:solidFill>
              <a:srgbClr val="F5E985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6" name="Rectangle 6"/>
            <p:cNvSpPr>
              <a:spLocks noChangeArrowheads="1"/>
            </p:cNvSpPr>
            <p:nvPr/>
          </p:nvSpPr>
          <p:spPr bwMode="auto">
            <a:xfrm>
              <a:off x="1056" y="2160"/>
              <a:ext cx="1104" cy="48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7" name="Rectangle 7"/>
            <p:cNvSpPr>
              <a:spLocks noChangeArrowheads="1"/>
            </p:cNvSpPr>
            <p:nvPr/>
          </p:nvSpPr>
          <p:spPr bwMode="auto">
            <a:xfrm>
              <a:off x="1056" y="2712"/>
              <a:ext cx="1104" cy="33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8" name="Rectangle 8"/>
            <p:cNvSpPr>
              <a:spLocks noChangeArrowheads="1"/>
            </p:cNvSpPr>
            <p:nvPr/>
          </p:nvSpPr>
          <p:spPr bwMode="auto">
            <a:xfrm>
              <a:off x="1056" y="3120"/>
              <a:ext cx="1104" cy="57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9" name="Text Box 9"/>
            <p:cNvSpPr txBox="1">
              <a:spLocks noChangeArrowheads="1"/>
            </p:cNvSpPr>
            <p:nvPr/>
          </p:nvSpPr>
          <p:spPr bwMode="auto">
            <a:xfrm>
              <a:off x="1008" y="1632"/>
              <a:ext cx="1578" cy="404"/>
            </a:xfrm>
            <a:prstGeom prst="rect">
              <a:avLst/>
            </a:prstGeom>
            <a:solidFill>
              <a:srgbClr val="F5E985"/>
            </a:soli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800" b="1" dirty="0" err="1">
                  <a:solidFill>
                    <a:srgbClr val="7030A0"/>
                  </a:solidFill>
                  <a:latin typeface="Courier New" pitchFamily="49" charset="0"/>
                </a:rPr>
                <a:t>int</a:t>
              </a:r>
              <a:r>
                <a:rPr lang="en-US" sz="1800" b="1" dirty="0">
                  <a:solidFill>
                    <a:srgbClr val="7030A0"/>
                  </a:solidFill>
                  <a:latin typeface="Courier New" pitchFamily="49" charset="0"/>
                </a:rPr>
                <a:t> size, weight;</a:t>
              </a:r>
            </a:p>
            <a:p>
              <a:r>
                <a:rPr lang="en-US" sz="1800" b="1" dirty="0">
                  <a:solidFill>
                    <a:srgbClr val="7030A0"/>
                  </a:solidFill>
                  <a:latin typeface="Courier New" pitchFamily="49" charset="0"/>
                </a:rPr>
                <a:t>char category;</a:t>
              </a:r>
              <a:endParaRPr lang="en-US" dirty="0">
                <a:solidFill>
                  <a:srgbClr val="7030A0"/>
                </a:solidFill>
                <a:latin typeface="Times New Roman" pitchFamily="18" charset="0"/>
              </a:endParaRPr>
            </a:p>
          </p:txBody>
        </p:sp>
      </p:grp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5684838" y="2589213"/>
            <a:ext cx="2697162" cy="401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hlink"/>
                </a:solidFill>
                <a:latin typeface="Verdana" pitchFamily="34" charset="0"/>
              </a:rPr>
              <a:t>Data declarations</a:t>
            </a:r>
            <a:endParaRPr lang="en-US">
              <a:solidFill>
                <a:schemeClr val="hlink"/>
              </a:solidFill>
              <a:latin typeface="Verdana" pitchFamily="34" charset="0"/>
            </a:endParaRP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5257800" y="4341813"/>
            <a:ext cx="3089275" cy="401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b="1">
                <a:solidFill>
                  <a:schemeClr val="hlink"/>
                </a:solidFill>
                <a:latin typeface="Verdana" pitchFamily="34" charset="0"/>
              </a:rPr>
              <a:t>Method declarations</a:t>
            </a:r>
            <a:endParaRPr lang="en-US">
              <a:solidFill>
                <a:schemeClr val="hlink"/>
              </a:solidFill>
              <a:latin typeface="Verdana" pitchFamily="34" charset="0"/>
            </a:endParaRPr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 flipH="1">
            <a:off x="4419600" y="2819400"/>
            <a:ext cx="12954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lg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962400" y="3352800"/>
            <a:ext cx="1143000" cy="2438400"/>
            <a:chOff x="2256" y="2064"/>
            <a:chExt cx="960" cy="1536"/>
          </a:xfrm>
        </p:grpSpPr>
        <p:sp>
          <p:nvSpPr>
            <p:cNvPr id="15374" name="AutoShape 14"/>
            <p:cNvSpPr>
              <a:spLocks/>
            </p:cNvSpPr>
            <p:nvPr/>
          </p:nvSpPr>
          <p:spPr bwMode="auto">
            <a:xfrm>
              <a:off x="2256" y="2064"/>
              <a:ext cx="528" cy="1536"/>
            </a:xfrm>
            <a:prstGeom prst="rightBrace">
              <a:avLst>
                <a:gd name="adj1" fmla="val 24242"/>
                <a:gd name="adj2" fmla="val 50000"/>
              </a:avLst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5" name="Line 15"/>
            <p:cNvSpPr>
              <a:spLocks noChangeShapeType="1"/>
            </p:cNvSpPr>
            <p:nvPr/>
          </p:nvSpPr>
          <p:spPr bwMode="auto">
            <a:xfrm flipH="1">
              <a:off x="2784" y="2832"/>
              <a:ext cx="432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0" grpId="0" autoUpdateAnimBg="0"/>
      <p:bldP spid="15371" grpId="0" autoUpdateAnimBg="0"/>
      <p:bldP spid="1537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and Methods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5257800"/>
          </a:xfrm>
        </p:spPr>
        <p:txBody>
          <a:bodyPr/>
          <a:lstStyle/>
          <a:p>
            <a:pPr>
              <a:spcBef>
                <a:spcPct val="70000"/>
              </a:spcBef>
            </a:pPr>
            <a:r>
              <a:rPr lang="en-US" dirty="0"/>
              <a:t>The values of the data define the state of an object created from the class</a:t>
            </a:r>
          </a:p>
          <a:p>
            <a:pPr>
              <a:spcBef>
                <a:spcPct val="70000"/>
              </a:spcBef>
            </a:pPr>
            <a:r>
              <a:rPr lang="en-US" dirty="0"/>
              <a:t>The functionality of the methods define the behaviors of the object</a:t>
            </a:r>
          </a:p>
          <a:p>
            <a:pPr>
              <a:spcBef>
                <a:spcPct val="70000"/>
              </a:spcBef>
            </a:pPr>
            <a:r>
              <a:rPr lang="en-US" dirty="0"/>
              <a:t>For our </a:t>
            </a:r>
            <a:r>
              <a:rPr lang="en-US" dirty="0">
                <a:latin typeface="Courier New" pitchFamily="49" charset="0"/>
              </a:rPr>
              <a:t>dice</a:t>
            </a:r>
            <a:r>
              <a:rPr lang="en-US" dirty="0"/>
              <a:t> class, we might declare an integer that </a:t>
            </a:r>
            <a:r>
              <a:rPr lang="en-US" dirty="0">
                <a:solidFill>
                  <a:srgbClr val="FF0000"/>
                </a:solidFill>
              </a:rPr>
              <a:t>represents the current value showing on the face</a:t>
            </a:r>
            <a:r>
              <a:rPr lang="en-US" dirty="0"/>
              <a:t>, and another to </a:t>
            </a:r>
            <a:r>
              <a:rPr lang="en-US" dirty="0">
                <a:solidFill>
                  <a:srgbClr val="FF0000"/>
                </a:solidFill>
              </a:rPr>
              <a:t>keep the number of faces</a:t>
            </a:r>
          </a:p>
          <a:p>
            <a:pPr>
              <a:spcBef>
                <a:spcPct val="70000"/>
              </a:spcBef>
            </a:pPr>
            <a:r>
              <a:rPr lang="en-US" dirty="0"/>
              <a:t>One of the </a:t>
            </a:r>
            <a:r>
              <a:rPr lang="en-US" dirty="0">
                <a:solidFill>
                  <a:srgbClr val="FF0000"/>
                </a:solidFill>
              </a:rPr>
              <a:t>methods would “roll” the dice </a:t>
            </a:r>
            <a:r>
              <a:rPr lang="en-US" dirty="0"/>
              <a:t>by setting that value to a random number between one and number of faces, we </a:t>
            </a:r>
            <a:r>
              <a:rPr lang="en-US" dirty="0">
                <a:solidFill>
                  <a:srgbClr val="FF0000"/>
                </a:solidFill>
              </a:rPr>
              <a:t>also need methods to give us information </a:t>
            </a:r>
            <a:r>
              <a:rPr lang="en-US" dirty="0"/>
              <a:t>about our object.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70000"/>
              </a:spcBef>
            </a:pPr>
            <a:r>
              <a:rPr lang="en-US" dirty="0"/>
              <a:t>We’ll want to design the </a:t>
            </a:r>
            <a:r>
              <a:rPr lang="en-US" dirty="0">
                <a:latin typeface="Courier New" pitchFamily="49" charset="0"/>
              </a:rPr>
              <a:t>dice</a:t>
            </a:r>
            <a:r>
              <a:rPr lang="en-US" dirty="0"/>
              <a:t> class with other data and methods to make it a versatile and reusable resource</a:t>
            </a:r>
          </a:p>
          <a:p>
            <a:pPr>
              <a:spcBef>
                <a:spcPct val="70000"/>
              </a:spcBef>
            </a:pPr>
            <a:r>
              <a:rPr lang="en-US" dirty="0"/>
              <a:t>Any given program will not necessarily use all aspects of a given class</a:t>
            </a:r>
          </a:p>
          <a:p>
            <a:pPr>
              <a:spcBef>
                <a:spcPct val="70000"/>
              </a:spcBef>
            </a:pPr>
            <a:r>
              <a:rPr lang="en-US" dirty="0"/>
              <a:t>See </a:t>
            </a:r>
            <a:r>
              <a:rPr lang="en-US" dirty="0">
                <a:hlinkClick r:id="rId2" action="ppaction://hlinkfile"/>
              </a:rPr>
              <a:t>RollingDice.java</a:t>
            </a:r>
            <a:r>
              <a:rPr lang="en-US" dirty="0"/>
              <a:t> (page 157)</a:t>
            </a:r>
          </a:p>
          <a:p>
            <a:r>
              <a:rPr lang="en-US" dirty="0"/>
              <a:t>See </a:t>
            </a:r>
            <a:r>
              <a:rPr lang="en-US" dirty="0">
                <a:hlinkClick r:id="rId3" action="ppaction://hlinkfile"/>
              </a:rPr>
              <a:t>dice.java</a:t>
            </a:r>
            <a:r>
              <a:rPr lang="en-US" dirty="0"/>
              <a:t> (page 158)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0"/>
            <a:ext cx="7924800" cy="7162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public class dice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   	private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numFaces</a:t>
            </a:r>
            <a:r>
              <a:rPr lang="en-US" sz="2000" dirty="0"/>
              <a:t>;  // maximum face value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   	private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faceValue</a:t>
            </a:r>
            <a:r>
              <a:rPr lang="en-US" sz="2000" dirty="0"/>
              <a:t>;  // current value showing on the dice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//  Constructor: Sets the initial face value.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public dice(</a:t>
            </a:r>
            <a:r>
              <a:rPr lang="en-US" sz="2000" dirty="0" err="1"/>
              <a:t>int</a:t>
            </a:r>
            <a:r>
              <a:rPr lang="en-US" sz="2000" dirty="0"/>
              <a:t> _</a:t>
            </a:r>
            <a:r>
              <a:rPr lang="en-US" sz="2000" dirty="0" err="1"/>
              <a:t>numFaces</a:t>
            </a:r>
            <a:r>
              <a:rPr lang="en-US" sz="2000" dirty="0"/>
              <a:t>) 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</a:t>
            </a:r>
            <a:r>
              <a:rPr lang="en-US" sz="2000" dirty="0" err="1"/>
              <a:t>numFaces</a:t>
            </a:r>
            <a:r>
              <a:rPr lang="en-US" sz="2000" dirty="0"/>
              <a:t> = _</a:t>
            </a:r>
            <a:r>
              <a:rPr lang="en-US" sz="2000" dirty="0" err="1"/>
              <a:t>numFaces</a:t>
            </a:r>
            <a:r>
              <a:rPr lang="en-US" sz="2000" dirty="0"/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      	roll();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   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//  Rolls the dice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public void roll()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      	</a:t>
            </a:r>
            <a:r>
              <a:rPr lang="en-US" sz="2000" dirty="0" err="1"/>
              <a:t>faceValue</a:t>
            </a:r>
            <a:r>
              <a:rPr lang="en-US" sz="2000" dirty="0"/>
              <a:t> = (</a:t>
            </a:r>
            <a:r>
              <a:rPr lang="en-US" sz="2000" dirty="0" err="1"/>
              <a:t>int</a:t>
            </a:r>
            <a:r>
              <a:rPr lang="en-US" sz="2000" dirty="0"/>
              <a:t>)(</a:t>
            </a:r>
            <a:r>
              <a:rPr lang="en-US" sz="2000" dirty="0" err="1"/>
              <a:t>Math.random</a:t>
            </a:r>
            <a:r>
              <a:rPr lang="en-US" sz="2000" dirty="0"/>
              <a:t>() * </a:t>
            </a:r>
            <a:r>
              <a:rPr lang="en-US" sz="2000" dirty="0" err="1"/>
              <a:t>numFaces</a:t>
            </a:r>
            <a:r>
              <a:rPr lang="en-US" sz="2000" dirty="0"/>
              <a:t>) + 1;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//  Face value setter/</a:t>
            </a:r>
            <a:r>
              <a:rPr lang="en-US" sz="2000" dirty="0" err="1"/>
              <a:t>mutator</a:t>
            </a:r>
            <a:r>
              <a:rPr lang="en-US" sz="2000" dirty="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public void </a:t>
            </a:r>
            <a:r>
              <a:rPr lang="en-US" sz="2000" dirty="0" err="1"/>
              <a:t>setFaceValue</a:t>
            </a:r>
            <a:r>
              <a:rPr lang="en-US" sz="2000" dirty="0"/>
              <a:t> (</a:t>
            </a:r>
            <a:r>
              <a:rPr lang="en-US" sz="2000" dirty="0" err="1"/>
              <a:t>int</a:t>
            </a:r>
            <a:r>
              <a:rPr lang="en-US" sz="2000" dirty="0"/>
              <a:t> value) 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if (value &lt;= </a:t>
            </a:r>
            <a:r>
              <a:rPr lang="en-US" sz="2000" dirty="0" err="1"/>
              <a:t>numFaces</a:t>
            </a:r>
            <a:r>
              <a:rPr lang="en-US" sz="2000" dirty="0"/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      	</a:t>
            </a:r>
            <a:r>
              <a:rPr lang="en-US" sz="2000" dirty="0" err="1"/>
              <a:t>faceValue</a:t>
            </a:r>
            <a:r>
              <a:rPr lang="en-US" sz="2000" dirty="0"/>
              <a:t> = value;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   	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dice Cont.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5486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//  Face value getter/</a:t>
            </a:r>
            <a:r>
              <a:rPr lang="en-US" sz="2000" dirty="0" err="1"/>
              <a:t>accessor</a:t>
            </a:r>
            <a:r>
              <a:rPr lang="en-US" sz="2000" dirty="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public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getFaceValue</a:t>
            </a:r>
            <a:r>
              <a:rPr lang="en-US" sz="2000" dirty="0"/>
              <a:t>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      	return </a:t>
            </a:r>
            <a:r>
              <a:rPr lang="en-US" sz="2000" dirty="0" err="1"/>
              <a:t>faceValue</a:t>
            </a:r>
            <a:r>
              <a:rPr lang="en-US" sz="2000" dirty="0"/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   	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//  Face value getter/</a:t>
            </a:r>
            <a:r>
              <a:rPr lang="en-US" sz="2000" dirty="0" err="1"/>
              <a:t>accessor</a:t>
            </a:r>
            <a:r>
              <a:rPr lang="en-US" sz="2000" dirty="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public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getNumFaces</a:t>
            </a:r>
            <a:r>
              <a:rPr lang="en-US" sz="2000" dirty="0"/>
              <a:t>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      	return </a:t>
            </a:r>
            <a:r>
              <a:rPr lang="en-US" sz="2000" dirty="0" err="1"/>
              <a:t>numFaces</a:t>
            </a:r>
            <a:r>
              <a:rPr lang="en-US" sz="2000" dirty="0"/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   	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//  Returns a string representation of this dice.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public String </a:t>
            </a:r>
            <a:r>
              <a:rPr lang="en-US" sz="2000" dirty="0" err="1"/>
              <a:t>toString</a:t>
            </a:r>
            <a:r>
              <a:rPr lang="en-US" sz="2000" dirty="0"/>
              <a:t>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      	return “number of Faces “ + </a:t>
            </a:r>
            <a:r>
              <a:rPr lang="en-US" sz="2000" dirty="0" err="1"/>
              <a:t>numFaces</a:t>
            </a:r>
            <a:r>
              <a:rPr lang="en-US" sz="2000" dirty="0"/>
              <a:t> +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	“current face value “ + </a:t>
            </a:r>
            <a:r>
              <a:rPr lang="en-US" sz="2000" dirty="0" err="1"/>
              <a:t>faceValue</a:t>
            </a:r>
            <a:r>
              <a:rPr lang="en-US" sz="2000" dirty="0"/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new Version	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sz="1800" dirty="0"/>
              <a:t>static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numSnakeEyes</a:t>
            </a:r>
            <a:r>
              <a:rPr lang="en-US" sz="1800" dirty="0"/>
              <a:t>(</a:t>
            </a:r>
            <a:r>
              <a:rPr lang="en-US" sz="1800" dirty="0" err="1"/>
              <a:t>int</a:t>
            </a:r>
            <a:r>
              <a:rPr lang="en-US" sz="1800" dirty="0"/>
              <a:t> sides1, </a:t>
            </a:r>
            <a:r>
              <a:rPr lang="en-US" sz="1800" dirty="0" err="1"/>
              <a:t>int</a:t>
            </a:r>
            <a:r>
              <a:rPr lang="en-US" sz="1800" dirty="0"/>
              <a:t> sides2,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numThrows</a:t>
            </a:r>
            <a:r>
              <a:rPr lang="en-US" sz="1800" dirty="0"/>
              <a:t>) {</a:t>
            </a:r>
          </a:p>
          <a:p>
            <a:pPr>
              <a:buFontTx/>
              <a:buNone/>
            </a:pPr>
            <a:r>
              <a:rPr lang="en-US" sz="1800" dirty="0"/>
              <a:t>	dice dice1 = new dice(sides1);</a:t>
            </a:r>
          </a:p>
          <a:p>
            <a:pPr>
              <a:buFontTx/>
              <a:buNone/>
            </a:pPr>
            <a:r>
              <a:rPr lang="en-US" sz="1800" dirty="0"/>
              <a:t>	dice dice2 = new dice(sides2);</a:t>
            </a:r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en-US" sz="1800" dirty="0"/>
              <a:t>	</a:t>
            </a:r>
            <a:r>
              <a:rPr lang="en-US" sz="1800" dirty="0" err="1"/>
              <a:t>int</a:t>
            </a:r>
            <a:r>
              <a:rPr lang="en-US" sz="1800" dirty="0"/>
              <a:t> count = 0;</a:t>
            </a:r>
          </a:p>
          <a:p>
            <a:pPr>
              <a:buFontTx/>
              <a:buNone/>
            </a:pPr>
            <a:r>
              <a:rPr lang="en-US" sz="1800" dirty="0"/>
              <a:t>	for(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= 0; </a:t>
            </a:r>
            <a:r>
              <a:rPr lang="en-US" sz="1800" dirty="0" err="1"/>
              <a:t>i</a:t>
            </a:r>
            <a:r>
              <a:rPr lang="en-US" sz="1800" dirty="0"/>
              <a:t> &lt; </a:t>
            </a:r>
            <a:r>
              <a:rPr lang="en-US" sz="1800" dirty="0" err="1"/>
              <a:t>numThrows</a:t>
            </a:r>
            <a:r>
              <a:rPr lang="en-US" sz="1800" dirty="0"/>
              <a:t>; </a:t>
            </a:r>
            <a:r>
              <a:rPr lang="en-US" sz="1800" dirty="0" err="1"/>
              <a:t>i</a:t>
            </a:r>
            <a:r>
              <a:rPr lang="en-US" sz="1800" dirty="0"/>
              <a:t>++) {</a:t>
            </a:r>
          </a:p>
          <a:p>
            <a:pPr>
              <a:buFontTx/>
              <a:buNone/>
            </a:pPr>
            <a:r>
              <a:rPr lang="en-US" sz="1800" dirty="0"/>
              <a:t>		dice1.roll();</a:t>
            </a:r>
          </a:p>
          <a:p>
            <a:pPr>
              <a:buFontTx/>
              <a:buNone/>
            </a:pPr>
            <a:r>
              <a:rPr lang="en-US" sz="1800" dirty="0"/>
              <a:t>		dice2.roll();</a:t>
            </a:r>
          </a:p>
          <a:p>
            <a:pPr>
              <a:buFontTx/>
              <a:buNone/>
            </a:pPr>
            <a:r>
              <a:rPr lang="en-US" sz="1800" dirty="0"/>
              <a:t>		if (dice1</a:t>
            </a:r>
            <a:r>
              <a:rPr lang="en-US" sz="1800"/>
              <a:t>.getFaceValue() </a:t>
            </a:r>
            <a:r>
              <a:rPr lang="en-US" sz="1800" dirty="0"/>
              <a:t>== 1 &amp;&amp; dice2</a:t>
            </a:r>
            <a:r>
              <a:rPr lang="en-US" sz="1800"/>
              <a:t>.getFaceValue() </a:t>
            </a:r>
            <a:r>
              <a:rPr lang="en-US" sz="1800" dirty="0"/>
              <a:t>== 1 )</a:t>
            </a:r>
          </a:p>
          <a:p>
            <a:pPr>
              <a:buFontTx/>
              <a:buNone/>
            </a:pPr>
            <a:r>
              <a:rPr lang="en-US" sz="1800" dirty="0"/>
              <a:t>			count++;</a:t>
            </a:r>
          </a:p>
          <a:p>
            <a:pPr>
              <a:buFontTx/>
              <a:buNone/>
            </a:pPr>
            <a:r>
              <a:rPr lang="en-US" sz="1800" dirty="0"/>
              <a:t>	}</a:t>
            </a:r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en-US" sz="1800" dirty="0"/>
              <a:t>	return count;</a:t>
            </a:r>
          </a:p>
          <a:p>
            <a:pPr>
              <a:buFontTx/>
              <a:buNone/>
            </a:pPr>
            <a:r>
              <a:rPr lang="en-US" sz="1800" dirty="0"/>
              <a:t>}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dice class in general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dice dice1, dice2;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</a:t>
            </a:r>
            <a:r>
              <a:rPr lang="en-US" sz="1600" dirty="0" err="1"/>
              <a:t>int</a:t>
            </a:r>
            <a:r>
              <a:rPr lang="en-US" sz="1600" dirty="0"/>
              <a:t> sum;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dice1 = new dice(7);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dice2 = new dice(34);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dice1.roll();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dice2.roll();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</a:t>
            </a:r>
            <a:r>
              <a:rPr lang="en-US" sz="1600" dirty="0" err="1"/>
              <a:t>System.out.println</a:t>
            </a:r>
            <a:r>
              <a:rPr lang="en-US" sz="1600" dirty="0"/>
              <a:t> ("dice One: " + dice1 + ", dice Two: " + dice2);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dice1.roll();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dice2.setFaceValue(4);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</a:t>
            </a:r>
            <a:r>
              <a:rPr lang="en-US" sz="1600" dirty="0" err="1"/>
              <a:t>System.out.println</a:t>
            </a:r>
            <a:r>
              <a:rPr lang="en-US" sz="1600" dirty="0"/>
              <a:t> ("dice One: " + dice1 + ", dice Two: " + dice2);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sum = dice1.getFaceValue() + dice2.getFaceValue();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</a:t>
            </a:r>
            <a:r>
              <a:rPr lang="en-US" sz="1600" dirty="0" err="1"/>
              <a:t>System.out.println</a:t>
            </a:r>
            <a:r>
              <a:rPr lang="en-US" sz="1600" dirty="0"/>
              <a:t> ("Sum: " + sum);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sum = dice1.roll() + dice2.roll();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</a:t>
            </a:r>
            <a:r>
              <a:rPr lang="en-US" sz="1600" dirty="0" err="1"/>
              <a:t>System.out.println</a:t>
            </a:r>
            <a:r>
              <a:rPr lang="en-US" sz="1600" dirty="0"/>
              <a:t> ("dice One: " + dice1 + ", dice Two: " + dice2);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</a:t>
            </a:r>
            <a:r>
              <a:rPr lang="en-US" sz="1600" dirty="0" err="1"/>
              <a:t>System.out.println</a:t>
            </a:r>
            <a:r>
              <a:rPr lang="en-US" sz="1600" dirty="0"/>
              <a:t> ("New sum: " + sum);</a:t>
            </a:r>
          </a:p>
          <a:p>
            <a:pPr>
              <a:lnSpc>
                <a:spcPct val="80000"/>
              </a:lnSpc>
            </a:pP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dice Class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60000"/>
              </a:spcBef>
            </a:pPr>
            <a:r>
              <a:rPr lang="en-US" dirty="0"/>
              <a:t>The </a:t>
            </a:r>
            <a:r>
              <a:rPr lang="en-US" dirty="0">
                <a:latin typeface="Courier New" pitchFamily="49" charset="0"/>
              </a:rPr>
              <a:t>dice</a:t>
            </a:r>
            <a:r>
              <a:rPr lang="en-US" dirty="0"/>
              <a:t> class contains two data values</a:t>
            </a:r>
          </a:p>
          <a:p>
            <a:pPr lvl="1">
              <a:spcBef>
                <a:spcPct val="60000"/>
              </a:spcBef>
            </a:pPr>
            <a:r>
              <a:rPr lang="en-US" dirty="0" err="1"/>
              <a:t>numFaces</a:t>
            </a:r>
            <a:r>
              <a:rPr lang="en-US" dirty="0"/>
              <a:t> that represents the maximum face value</a:t>
            </a:r>
          </a:p>
          <a:p>
            <a:pPr lvl="1">
              <a:spcBef>
                <a:spcPct val="60000"/>
              </a:spcBef>
            </a:pPr>
            <a:r>
              <a:rPr lang="en-US" dirty="0"/>
              <a:t>an integer </a:t>
            </a:r>
            <a:r>
              <a:rPr lang="en-US" dirty="0" err="1">
                <a:latin typeface="Courier New" pitchFamily="49" charset="0"/>
              </a:rPr>
              <a:t>faceValue</a:t>
            </a:r>
            <a:r>
              <a:rPr lang="en-US" dirty="0"/>
              <a:t> that represents the current face value</a:t>
            </a:r>
          </a:p>
          <a:p>
            <a:pPr>
              <a:spcBef>
                <a:spcPct val="60000"/>
              </a:spcBef>
            </a:pPr>
            <a:r>
              <a:rPr lang="en-US" dirty="0"/>
              <a:t>The </a:t>
            </a:r>
            <a:r>
              <a:rPr lang="en-US" dirty="0">
                <a:latin typeface="Courier New" pitchFamily="49" charset="0"/>
              </a:rPr>
              <a:t>roll</a:t>
            </a:r>
            <a:r>
              <a:rPr lang="en-US" dirty="0"/>
              <a:t> method uses the </a:t>
            </a:r>
            <a:r>
              <a:rPr lang="en-US" dirty="0">
                <a:latin typeface="Courier New" pitchFamily="49" charset="0"/>
              </a:rPr>
              <a:t>random</a:t>
            </a:r>
            <a:r>
              <a:rPr lang="en-US" dirty="0"/>
              <a:t> method of the </a:t>
            </a:r>
            <a:r>
              <a:rPr lang="en-US" dirty="0">
                <a:latin typeface="Courier New" pitchFamily="49" charset="0"/>
              </a:rPr>
              <a:t>Math</a:t>
            </a:r>
            <a:r>
              <a:rPr lang="en-US" dirty="0"/>
              <a:t> class to determine a new face value</a:t>
            </a:r>
          </a:p>
          <a:p>
            <a:pPr>
              <a:spcBef>
                <a:spcPct val="60000"/>
              </a:spcBef>
            </a:pPr>
            <a:r>
              <a:rPr lang="en-US" dirty="0"/>
              <a:t>There are also methods to explicitly set and retrieve the current face value at any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toString Method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70000"/>
              </a:spcBef>
            </a:pPr>
            <a:r>
              <a:rPr lang="en-US"/>
              <a:t>All classes that represent objects should define a </a:t>
            </a:r>
            <a:r>
              <a:rPr lang="en-US">
                <a:latin typeface="Courier New" pitchFamily="49" charset="0"/>
              </a:rPr>
              <a:t>toString</a:t>
            </a:r>
            <a:r>
              <a:rPr lang="en-US"/>
              <a:t> method</a:t>
            </a:r>
          </a:p>
          <a:p>
            <a:pPr>
              <a:spcBef>
                <a:spcPct val="70000"/>
              </a:spcBef>
            </a:pPr>
            <a:r>
              <a:rPr lang="en-US"/>
              <a:t>The </a:t>
            </a:r>
            <a:r>
              <a:rPr lang="en-US">
                <a:latin typeface="Courier New" pitchFamily="49" charset="0"/>
              </a:rPr>
              <a:t>toString</a:t>
            </a:r>
            <a:r>
              <a:rPr lang="en-US"/>
              <a:t> method returns a character string that represents the object in some way</a:t>
            </a:r>
          </a:p>
          <a:p>
            <a:pPr>
              <a:spcBef>
                <a:spcPct val="60000"/>
              </a:spcBef>
            </a:pPr>
            <a:r>
              <a:rPr lang="en-US"/>
              <a:t>It is called automatically when an object is concatenated to a string or when it is passed to the </a:t>
            </a:r>
            <a:r>
              <a:rPr lang="en-US">
                <a:latin typeface="Courier New" pitchFamily="49" charset="0"/>
              </a:rPr>
              <a:t>println</a:t>
            </a:r>
            <a:r>
              <a:rPr lang="en-US"/>
              <a:t> method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Constructors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60000"/>
              </a:spcBef>
            </a:pPr>
            <a:r>
              <a:rPr lang="en-US" dirty="0"/>
              <a:t>As mentioned previously, a </a:t>
            </a:r>
            <a:r>
              <a:rPr lang="en-US" i="1" dirty="0"/>
              <a:t>constructor</a:t>
            </a:r>
            <a:r>
              <a:rPr lang="en-US" dirty="0"/>
              <a:t> is a special method that is used to set up an object when it is initially created</a:t>
            </a:r>
          </a:p>
          <a:p>
            <a:pPr>
              <a:spcBef>
                <a:spcPct val="60000"/>
              </a:spcBef>
            </a:pPr>
            <a:r>
              <a:rPr lang="en-US" dirty="0"/>
              <a:t>A constructor has the same name as the class</a:t>
            </a:r>
          </a:p>
          <a:p>
            <a:pPr>
              <a:spcBef>
                <a:spcPct val="60000"/>
              </a:spcBef>
            </a:pPr>
            <a:r>
              <a:rPr lang="en-US" dirty="0"/>
              <a:t>The </a:t>
            </a:r>
            <a:r>
              <a:rPr lang="en-US" dirty="0">
                <a:latin typeface="Courier New" pitchFamily="49" charset="0"/>
              </a:rPr>
              <a:t>dice</a:t>
            </a:r>
            <a:r>
              <a:rPr lang="en-US" dirty="0"/>
              <a:t> constructor is used to set the number of faces value of each new dice object to a user defined value (passed as a parameter)</a:t>
            </a:r>
          </a:p>
          <a:p>
            <a:pPr>
              <a:spcBef>
                <a:spcPct val="60000"/>
              </a:spcBef>
            </a:pPr>
            <a:r>
              <a:rPr lang="en-US" dirty="0"/>
              <a:t>We examine constructors in more detail later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Scope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75000"/>
              </a:spcBef>
            </a:pPr>
            <a:r>
              <a:rPr lang="en-US"/>
              <a:t>The </a:t>
            </a:r>
            <a:r>
              <a:rPr lang="en-US" i="1"/>
              <a:t>scope</a:t>
            </a:r>
            <a:r>
              <a:rPr lang="en-US"/>
              <a:t> of data is the area in a program in which that data can be referenced (used)</a:t>
            </a:r>
          </a:p>
          <a:p>
            <a:pPr>
              <a:spcBef>
                <a:spcPct val="75000"/>
              </a:spcBef>
            </a:pPr>
            <a:r>
              <a:rPr lang="en-US"/>
              <a:t>Data declared at the class level can be referenced by all methods in that class</a:t>
            </a:r>
          </a:p>
          <a:p>
            <a:pPr>
              <a:spcBef>
                <a:spcPct val="75000"/>
              </a:spcBef>
            </a:pPr>
            <a:r>
              <a:rPr lang="en-US"/>
              <a:t>Data declared within a method can be used only in that method</a:t>
            </a:r>
          </a:p>
          <a:p>
            <a:pPr>
              <a:spcBef>
                <a:spcPct val="75000"/>
              </a:spcBef>
            </a:pPr>
            <a:r>
              <a:rPr lang="en-US"/>
              <a:t>Data declared within a method is called </a:t>
            </a:r>
            <a:r>
              <a:rPr lang="en-US" i="1"/>
              <a:t>local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and Class scope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66825"/>
            <a:ext cx="8305800" cy="5362575"/>
          </a:xfrm>
        </p:spPr>
        <p:txBody>
          <a:bodyPr/>
          <a:lstStyle/>
          <a:p>
            <a:pPr>
              <a:buFontTx/>
              <a:buNone/>
            </a:pPr>
            <a:r>
              <a:rPr lang="en-US" sz="2000"/>
              <a:t>public class X{</a:t>
            </a:r>
          </a:p>
          <a:p>
            <a:pPr>
              <a:buFontTx/>
              <a:buNone/>
            </a:pPr>
            <a:r>
              <a:rPr lang="en-US" sz="2000"/>
              <a:t>	private int a; // a has class scope, can be seen from </a:t>
            </a:r>
          </a:p>
          <a:p>
            <a:pPr>
              <a:buFontTx/>
              <a:buNone/>
            </a:pPr>
            <a:r>
              <a:rPr lang="en-US" sz="2000"/>
              <a:t>			   // anywhere inside the class </a:t>
            </a:r>
          </a:p>
          <a:p>
            <a:pPr>
              <a:buFontTx/>
              <a:buNone/>
            </a:pPr>
            <a:r>
              <a:rPr lang="en-US" sz="2000"/>
              <a:t>	….</a:t>
            </a:r>
          </a:p>
          <a:p>
            <a:pPr>
              <a:buFontTx/>
              <a:buNone/>
            </a:pPr>
            <a:r>
              <a:rPr lang="en-US" sz="2000"/>
              <a:t>	public void m() {</a:t>
            </a:r>
          </a:p>
          <a:p>
            <a:pPr>
              <a:buFontTx/>
              <a:buNone/>
            </a:pPr>
            <a:r>
              <a:rPr lang="en-US" sz="2000"/>
              <a:t>		a=5; // no problem</a:t>
            </a:r>
          </a:p>
          <a:p>
            <a:pPr>
              <a:buFontTx/>
              <a:buNone/>
            </a:pPr>
            <a:r>
              <a:rPr lang="en-US" sz="2000"/>
              <a:t>		int b = 0; // b is declared inside the method, local scope</a:t>
            </a:r>
          </a:p>
          <a:p>
            <a:pPr>
              <a:buFontTx/>
              <a:buNone/>
            </a:pPr>
            <a:r>
              <a:rPr lang="en-US" sz="2000"/>
              <a:t>	…..</a:t>
            </a:r>
          </a:p>
          <a:p>
            <a:pPr>
              <a:buFontTx/>
              <a:buNone/>
            </a:pPr>
            <a:r>
              <a:rPr lang="en-US" sz="2000"/>
              <a:t>	} // here variable b is destroyed, no one will remember him</a:t>
            </a:r>
          </a:p>
          <a:p>
            <a:pPr>
              <a:buFontTx/>
              <a:buNone/>
            </a:pPr>
            <a:endParaRPr lang="en-US" sz="2000"/>
          </a:p>
          <a:p>
            <a:pPr>
              <a:buFontTx/>
              <a:buNone/>
            </a:pPr>
            <a:r>
              <a:rPr lang="en-US" sz="2000"/>
              <a:t>	public void m2() {</a:t>
            </a:r>
          </a:p>
          <a:p>
            <a:pPr>
              <a:buFontTx/>
              <a:buNone/>
            </a:pPr>
            <a:r>
              <a:rPr lang="en-US" sz="2000"/>
              <a:t>		a=3; // ok</a:t>
            </a:r>
          </a:p>
          <a:p>
            <a:pPr>
              <a:buFontTx/>
              <a:buNone/>
            </a:pPr>
            <a:r>
              <a:rPr lang="en-US" sz="2000"/>
              <a:t>		b = 4; // who is b? compiler will issue an error</a:t>
            </a:r>
          </a:p>
          <a:p>
            <a:pPr>
              <a:buFontTx/>
              <a:buNone/>
            </a:pPr>
            <a:r>
              <a:rPr lang="en-US" sz="2000"/>
              <a:t>	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Data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4419600" cy="4905375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public class X {</a:t>
            </a:r>
          </a:p>
          <a:p>
            <a:pPr>
              <a:buFontTx/>
              <a:buNone/>
            </a:pPr>
            <a:r>
              <a:rPr lang="en-US"/>
              <a:t>	int a;</a:t>
            </a:r>
          </a:p>
          <a:p>
            <a:pPr>
              <a:buFontTx/>
              <a:buNone/>
            </a:pPr>
            <a:r>
              <a:rPr lang="en-US"/>
              <a:t>	int b;</a:t>
            </a:r>
          </a:p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r>
              <a:rPr lang="en-US"/>
              <a:t>	void m1 () {</a:t>
            </a:r>
          </a:p>
          <a:p>
            <a:pPr>
              <a:buFontTx/>
              <a:buNone/>
            </a:pPr>
            <a:r>
              <a:rPr lang="en-US"/>
              <a:t>		System.out.println(a);</a:t>
            </a:r>
          </a:p>
          <a:p>
            <a:pPr>
              <a:buFontTx/>
              <a:buNone/>
            </a:pPr>
            <a:r>
              <a:rPr lang="en-US"/>
              <a:t>		m2();</a:t>
            </a:r>
          </a:p>
          <a:p>
            <a:pPr>
              <a:buFontTx/>
              <a:buNone/>
            </a:pPr>
            <a:r>
              <a:rPr lang="en-US"/>
              <a:t>	}</a:t>
            </a:r>
          </a:p>
          <a:p>
            <a:pPr>
              <a:buFontTx/>
              <a:buNone/>
            </a:pPr>
            <a:r>
              <a:rPr lang="en-US"/>
              <a:t>	void m2() { </a:t>
            </a:r>
          </a:p>
          <a:p>
            <a:pPr>
              <a:buFontTx/>
              <a:buNone/>
            </a:pPr>
            <a:r>
              <a:rPr lang="en-US"/>
              <a:t>		 System.out.println(b);</a:t>
            </a:r>
          </a:p>
          <a:p>
            <a:pPr>
              <a:buFontTx/>
              <a:buNone/>
            </a:pPr>
            <a:r>
              <a:rPr lang="en-US"/>
              <a:t>	}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6705600" y="1905000"/>
            <a:ext cx="1447800" cy="1143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itchFamily="18" charset="0"/>
              </a:rPr>
              <a:t>a=3</a:t>
            </a:r>
          </a:p>
          <a:p>
            <a:pPr algn="ctr"/>
            <a:r>
              <a:rPr lang="en-US">
                <a:solidFill>
                  <a:srgbClr val="FF0000"/>
                </a:solidFill>
                <a:latin typeface="Times New Roman" pitchFamily="18" charset="0"/>
              </a:rPr>
              <a:t>b=4</a:t>
            </a:r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6553200" y="1371600"/>
            <a:ext cx="990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o1</a:t>
            </a:r>
          </a:p>
        </p:txBody>
      </p:sp>
      <p:sp>
        <p:nvSpPr>
          <p:cNvPr id="101382" name="Rectangle 6"/>
          <p:cNvSpPr>
            <a:spLocks noChangeArrowheads="1"/>
          </p:cNvSpPr>
          <p:nvPr/>
        </p:nvSpPr>
        <p:spPr bwMode="auto">
          <a:xfrm>
            <a:off x="6781800" y="4648200"/>
            <a:ext cx="1447800" cy="11430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itchFamily="18" charset="0"/>
              </a:rPr>
              <a:t>a=1</a:t>
            </a:r>
          </a:p>
          <a:p>
            <a:pPr algn="ctr"/>
            <a:r>
              <a:rPr lang="en-US">
                <a:solidFill>
                  <a:srgbClr val="FF0000"/>
                </a:solidFill>
                <a:latin typeface="Times New Roman" pitchFamily="18" charset="0"/>
              </a:rPr>
              <a:t>b=2</a:t>
            </a:r>
          </a:p>
        </p:txBody>
      </p:sp>
      <p:sp>
        <p:nvSpPr>
          <p:cNvPr id="101383" name="Text Box 7"/>
          <p:cNvSpPr txBox="1">
            <a:spLocks noChangeArrowheads="1"/>
          </p:cNvSpPr>
          <p:nvPr/>
        </p:nvSpPr>
        <p:spPr bwMode="auto">
          <a:xfrm>
            <a:off x="6629400" y="4114800"/>
            <a:ext cx="990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o2</a:t>
            </a:r>
          </a:p>
        </p:txBody>
      </p:sp>
      <p:sp>
        <p:nvSpPr>
          <p:cNvPr id="101384" name="AutoShape 8"/>
          <p:cNvSpPr>
            <a:spLocks noChangeArrowheads="1"/>
          </p:cNvSpPr>
          <p:nvPr/>
        </p:nvSpPr>
        <p:spPr bwMode="auto">
          <a:xfrm>
            <a:off x="533400" y="3276600"/>
            <a:ext cx="4191000" cy="1981200"/>
          </a:xfrm>
          <a:prstGeom prst="wedgeRoundRectCallout">
            <a:avLst>
              <a:gd name="adj1" fmla="val 95190"/>
              <a:gd name="adj2" fmla="val -83815"/>
              <a:gd name="adj3" fmla="val 16667"/>
            </a:avLst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01385" name="AutoShape 9"/>
          <p:cNvSpPr>
            <a:spLocks noChangeArrowheads="1"/>
          </p:cNvSpPr>
          <p:nvPr/>
        </p:nvSpPr>
        <p:spPr bwMode="auto">
          <a:xfrm>
            <a:off x="533400" y="3276600"/>
            <a:ext cx="4191000" cy="1981200"/>
          </a:xfrm>
          <a:prstGeom prst="wedgeRoundRectCallout">
            <a:avLst>
              <a:gd name="adj1" fmla="val 96819"/>
              <a:gd name="adj2" fmla="val 33736"/>
              <a:gd name="adj3" fmla="val 16667"/>
            </a:avLst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01386" name="Text Box 10"/>
          <p:cNvSpPr txBox="1">
            <a:spLocks noChangeArrowheads="1"/>
          </p:cNvSpPr>
          <p:nvPr/>
        </p:nvSpPr>
        <p:spPr bwMode="auto">
          <a:xfrm>
            <a:off x="5029200" y="25908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o1.m1()</a:t>
            </a:r>
          </a:p>
        </p:txBody>
      </p:sp>
      <p:sp>
        <p:nvSpPr>
          <p:cNvPr id="101387" name="Text Box 11"/>
          <p:cNvSpPr txBox="1">
            <a:spLocks noChangeArrowheads="1"/>
          </p:cNvSpPr>
          <p:nvPr/>
        </p:nvSpPr>
        <p:spPr bwMode="auto">
          <a:xfrm>
            <a:off x="5029200" y="48768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o2.m1()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Instance Data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121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We can depict the two </a:t>
            </a:r>
            <a:r>
              <a:rPr lang="en-US" dirty="0">
                <a:latin typeface="Courier New" pitchFamily="49" charset="0"/>
              </a:rPr>
              <a:t>dice</a:t>
            </a:r>
            <a:r>
              <a:rPr lang="en-US" dirty="0"/>
              <a:t> objects from the </a:t>
            </a:r>
            <a:r>
              <a:rPr lang="en-US" dirty="0" err="1">
                <a:latin typeface="Courier New" pitchFamily="49" charset="0"/>
              </a:rPr>
              <a:t>RollingDice</a:t>
            </a:r>
            <a:r>
              <a:rPr lang="en-US" dirty="0"/>
              <a:t> program as follows: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3106738" y="2136775"/>
            <a:ext cx="708025" cy="782638"/>
          </a:xfrm>
          <a:prstGeom prst="rect">
            <a:avLst/>
          </a:prstGeom>
          <a:solidFill>
            <a:srgbClr val="F5E98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2209800" y="2120900"/>
            <a:ext cx="9541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dice1</a:t>
            </a:r>
          </a:p>
        </p:txBody>
      </p:sp>
      <p:sp>
        <p:nvSpPr>
          <p:cNvPr id="54280" name="AutoShape 8"/>
          <p:cNvSpPr>
            <a:spLocks noChangeArrowheads="1"/>
          </p:cNvSpPr>
          <p:nvPr/>
        </p:nvSpPr>
        <p:spPr bwMode="auto">
          <a:xfrm>
            <a:off x="4522788" y="1981200"/>
            <a:ext cx="2987675" cy="1093788"/>
          </a:xfrm>
          <a:prstGeom prst="roundRect">
            <a:avLst>
              <a:gd name="adj" fmla="val 16667"/>
            </a:avLst>
          </a:prstGeom>
          <a:solidFill>
            <a:srgbClr val="F5E98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 b="1">
              <a:latin typeface="Courier New" pitchFamily="49" charset="0"/>
            </a:endParaRPr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>
            <a:off x="3500438" y="2528888"/>
            <a:ext cx="942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282" name="Rectangle 10"/>
          <p:cNvSpPr>
            <a:spLocks noChangeArrowheads="1"/>
          </p:cNvSpPr>
          <p:nvPr/>
        </p:nvSpPr>
        <p:spPr bwMode="auto">
          <a:xfrm>
            <a:off x="6488113" y="2136775"/>
            <a:ext cx="750887" cy="3016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rgbClr val="7030A0"/>
                </a:solidFill>
                <a:latin typeface="Courier New" pitchFamily="49" charset="0"/>
              </a:rPr>
              <a:t>5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4800600" y="2133600"/>
            <a:ext cx="15557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7030A0"/>
                </a:solidFill>
                <a:latin typeface="Courier New" pitchFamily="49" charset="0"/>
              </a:rPr>
              <a:t>faceValue</a:t>
            </a:r>
            <a:endParaRPr lang="en-US" sz="2000" b="1" dirty="0">
              <a:solidFill>
                <a:srgbClr val="7030A0"/>
              </a:solidFill>
              <a:latin typeface="Courier New" pitchFamily="49" charset="0"/>
            </a:endParaRPr>
          </a:p>
        </p:txBody>
      </p:sp>
      <p:sp>
        <p:nvSpPr>
          <p:cNvPr id="54285" name="Rectangle 13"/>
          <p:cNvSpPr>
            <a:spLocks noChangeArrowheads="1"/>
          </p:cNvSpPr>
          <p:nvPr/>
        </p:nvSpPr>
        <p:spPr bwMode="auto">
          <a:xfrm>
            <a:off x="3140075" y="4167188"/>
            <a:ext cx="717550" cy="785812"/>
          </a:xfrm>
          <a:prstGeom prst="rect">
            <a:avLst/>
          </a:prstGeom>
          <a:solidFill>
            <a:srgbClr val="F5E98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6" name="Text Box 14"/>
          <p:cNvSpPr txBox="1">
            <a:spLocks noChangeArrowheads="1"/>
          </p:cNvSpPr>
          <p:nvPr/>
        </p:nvSpPr>
        <p:spPr bwMode="auto">
          <a:xfrm>
            <a:off x="2243138" y="4151313"/>
            <a:ext cx="9541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dice2</a:t>
            </a:r>
          </a:p>
        </p:txBody>
      </p:sp>
      <p:sp>
        <p:nvSpPr>
          <p:cNvPr id="54287" name="AutoShape 15"/>
          <p:cNvSpPr>
            <a:spLocks noChangeArrowheads="1"/>
          </p:cNvSpPr>
          <p:nvPr/>
        </p:nvSpPr>
        <p:spPr bwMode="auto">
          <a:xfrm>
            <a:off x="4556125" y="4011613"/>
            <a:ext cx="3027363" cy="1098550"/>
          </a:xfrm>
          <a:prstGeom prst="roundRect">
            <a:avLst>
              <a:gd name="adj" fmla="val 16667"/>
            </a:avLst>
          </a:prstGeom>
          <a:solidFill>
            <a:srgbClr val="F5E985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 b="1">
              <a:latin typeface="Courier New" pitchFamily="49" charset="0"/>
            </a:endParaRPr>
          </a:p>
        </p:txBody>
      </p:sp>
      <p:sp>
        <p:nvSpPr>
          <p:cNvPr id="54288" name="Line 16"/>
          <p:cNvSpPr>
            <a:spLocks noChangeShapeType="1"/>
          </p:cNvSpPr>
          <p:nvPr/>
        </p:nvSpPr>
        <p:spPr bwMode="auto">
          <a:xfrm>
            <a:off x="3533775" y="4559300"/>
            <a:ext cx="9556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289" name="Rectangle 17"/>
          <p:cNvSpPr>
            <a:spLocks noChangeArrowheads="1"/>
          </p:cNvSpPr>
          <p:nvPr/>
        </p:nvSpPr>
        <p:spPr bwMode="auto">
          <a:xfrm>
            <a:off x="6629400" y="4167188"/>
            <a:ext cx="762000" cy="3286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anchor="ctr"/>
          <a:lstStyle/>
          <a:p>
            <a:pPr algn="ctr"/>
            <a:r>
              <a:rPr lang="en-US" sz="2000" b="1">
                <a:solidFill>
                  <a:srgbClr val="7030A0"/>
                </a:solidFill>
                <a:latin typeface="Courier New" pitchFamily="49" charset="0"/>
              </a:rPr>
              <a:t>2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54290" name="Text Box 18"/>
          <p:cNvSpPr txBox="1">
            <a:spLocks noChangeArrowheads="1"/>
          </p:cNvSpPr>
          <p:nvPr/>
        </p:nvSpPr>
        <p:spPr bwMode="auto">
          <a:xfrm>
            <a:off x="4792663" y="4151313"/>
            <a:ext cx="15557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7030A0"/>
                </a:solidFill>
                <a:latin typeface="Courier New" pitchFamily="49" charset="0"/>
              </a:rPr>
              <a:t>faceValue</a:t>
            </a:r>
            <a:endParaRPr lang="en-US" sz="2000" b="1" dirty="0">
              <a:solidFill>
                <a:srgbClr val="7030A0"/>
              </a:solidFill>
              <a:latin typeface="Courier New" pitchFamily="49" charset="0"/>
            </a:endParaRPr>
          </a:p>
        </p:txBody>
      </p:sp>
      <p:sp>
        <p:nvSpPr>
          <p:cNvPr id="54291" name="Text Box 19"/>
          <p:cNvSpPr txBox="1">
            <a:spLocks noChangeArrowheads="1"/>
          </p:cNvSpPr>
          <p:nvPr/>
        </p:nvSpPr>
        <p:spPr bwMode="auto">
          <a:xfrm>
            <a:off x="1905000" y="5410200"/>
            <a:ext cx="6553200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sz="2000" b="1">
                <a:solidFill>
                  <a:schemeClr val="hlink"/>
                </a:solidFill>
                <a:latin typeface="Verdana" pitchFamily="34" charset="0"/>
              </a:rPr>
              <a:t>Each object maintains its own </a:t>
            </a:r>
            <a:r>
              <a:rPr lang="en-US" sz="2000" b="1">
                <a:solidFill>
                  <a:schemeClr val="hlink"/>
                </a:solidFill>
                <a:latin typeface="Courier New" pitchFamily="49" charset="0"/>
              </a:rPr>
              <a:t>faceValue and numFaces</a:t>
            </a:r>
            <a:r>
              <a:rPr lang="en-US" sz="2000" b="1">
                <a:solidFill>
                  <a:schemeClr val="hlink"/>
                </a:solidFill>
                <a:latin typeface="Verdana" pitchFamily="34" charset="0"/>
              </a:rPr>
              <a:t> variable, and thus its own state</a:t>
            </a:r>
          </a:p>
        </p:txBody>
      </p:sp>
      <p:sp>
        <p:nvSpPr>
          <p:cNvPr id="54293" name="Text Box 21"/>
          <p:cNvSpPr txBox="1">
            <a:spLocks noChangeArrowheads="1"/>
          </p:cNvSpPr>
          <p:nvPr/>
        </p:nvSpPr>
        <p:spPr bwMode="auto">
          <a:xfrm>
            <a:off x="4800600" y="2590800"/>
            <a:ext cx="1403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7030A0"/>
                </a:solidFill>
                <a:latin typeface="Courier New" pitchFamily="49" charset="0"/>
              </a:rPr>
              <a:t>numFaces</a:t>
            </a:r>
            <a:endParaRPr lang="en-US" sz="2000" b="1" dirty="0">
              <a:solidFill>
                <a:srgbClr val="7030A0"/>
              </a:solidFill>
              <a:latin typeface="Courier New" pitchFamily="49" charset="0"/>
            </a:endParaRPr>
          </a:p>
        </p:txBody>
      </p:sp>
      <p:sp>
        <p:nvSpPr>
          <p:cNvPr id="54294" name="Rectangle 22"/>
          <p:cNvSpPr>
            <a:spLocks noChangeArrowheads="1"/>
          </p:cNvSpPr>
          <p:nvPr/>
        </p:nvSpPr>
        <p:spPr bwMode="auto">
          <a:xfrm>
            <a:off x="6477000" y="2667000"/>
            <a:ext cx="750888" cy="3016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7030A0"/>
                </a:solidFill>
                <a:latin typeface="Courier New" pitchFamily="49" charset="0"/>
              </a:rPr>
              <a:t>6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54295" name="Text Box 23"/>
          <p:cNvSpPr txBox="1">
            <a:spLocks noChangeArrowheads="1"/>
          </p:cNvSpPr>
          <p:nvPr/>
        </p:nvSpPr>
        <p:spPr bwMode="auto">
          <a:xfrm>
            <a:off x="4800600" y="4648200"/>
            <a:ext cx="1403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 err="1">
                <a:solidFill>
                  <a:srgbClr val="7030A0"/>
                </a:solidFill>
                <a:latin typeface="Courier New" pitchFamily="49" charset="0"/>
              </a:rPr>
              <a:t>numFaces</a:t>
            </a:r>
            <a:endParaRPr lang="en-US" sz="2000" b="1" dirty="0">
              <a:solidFill>
                <a:srgbClr val="7030A0"/>
              </a:solidFill>
              <a:latin typeface="Courier New" pitchFamily="49" charset="0"/>
            </a:endParaRPr>
          </a:p>
        </p:txBody>
      </p:sp>
      <p:sp>
        <p:nvSpPr>
          <p:cNvPr id="54296" name="Rectangle 24"/>
          <p:cNvSpPr>
            <a:spLocks noChangeArrowheads="1"/>
          </p:cNvSpPr>
          <p:nvPr/>
        </p:nvSpPr>
        <p:spPr bwMode="auto">
          <a:xfrm>
            <a:off x="6629400" y="4648200"/>
            <a:ext cx="762000" cy="3286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anchor="ctr"/>
          <a:lstStyle/>
          <a:p>
            <a:pPr algn="ctr"/>
            <a:r>
              <a:rPr lang="en-US" sz="2000" b="1">
                <a:solidFill>
                  <a:srgbClr val="7030A0"/>
                </a:solidFill>
                <a:latin typeface="Courier New" pitchFamily="49" charset="0"/>
              </a:rPr>
              <a:t>9</a:t>
            </a:r>
            <a:endParaRPr lang="en-US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Coin Example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will </a:t>
            </a:r>
            <a:r>
              <a:rPr lang="en-US" dirty="0">
                <a:solidFill>
                  <a:srgbClr val="FF0000"/>
                </a:solidFill>
              </a:rPr>
              <a:t>flip a coin 1000 </a:t>
            </a:r>
            <a:r>
              <a:rPr lang="en-US" dirty="0"/>
              <a:t>times and </a:t>
            </a:r>
            <a:r>
              <a:rPr lang="en-US" dirty="0">
                <a:solidFill>
                  <a:srgbClr val="FF0000"/>
                </a:solidFill>
              </a:rPr>
              <a:t>report the number</a:t>
            </a:r>
            <a:r>
              <a:rPr lang="en-US" dirty="0"/>
              <a:t> of heads and tails</a:t>
            </a:r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Flips two coins until one of them comes up </a:t>
            </a:r>
            <a:r>
              <a:rPr lang="en-US" dirty="0">
                <a:solidFill>
                  <a:srgbClr val="FF0000"/>
                </a:solidFill>
              </a:rPr>
              <a:t>heads three times  in a row,</a:t>
            </a:r>
            <a:r>
              <a:rPr lang="en-US" dirty="0"/>
              <a:t> and report the winner.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Coin Class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4191000" cy="4953000"/>
          </a:xfrm>
        </p:spPr>
        <p:txBody>
          <a:bodyPr/>
          <a:lstStyle/>
          <a:p>
            <a:pPr>
              <a:buFontTx/>
              <a:buNone/>
            </a:pPr>
            <a:r>
              <a:rPr lang="en-US" sz="1800" dirty="0"/>
              <a:t>public class Coin</a:t>
            </a:r>
          </a:p>
          <a:p>
            <a:pPr>
              <a:buFontTx/>
              <a:buNone/>
            </a:pPr>
            <a:r>
              <a:rPr lang="en-US" sz="1800" dirty="0"/>
              <a:t>{</a:t>
            </a:r>
          </a:p>
          <a:p>
            <a:pPr>
              <a:buFontTx/>
              <a:buNone/>
            </a:pPr>
            <a:r>
              <a:rPr lang="en-US" sz="1800" dirty="0"/>
              <a:t>   private final </a:t>
            </a:r>
            <a:r>
              <a:rPr lang="en-US" sz="1800" dirty="0" err="1"/>
              <a:t>int</a:t>
            </a:r>
            <a:r>
              <a:rPr lang="en-US" sz="1800" dirty="0"/>
              <a:t> HEADS = 0;</a:t>
            </a:r>
          </a:p>
          <a:p>
            <a:pPr>
              <a:buFontTx/>
              <a:buNone/>
            </a:pPr>
            <a:r>
              <a:rPr lang="en-US" sz="1800" dirty="0"/>
              <a:t>   private final </a:t>
            </a:r>
            <a:r>
              <a:rPr lang="en-US" sz="1800" dirty="0" err="1"/>
              <a:t>int</a:t>
            </a:r>
            <a:r>
              <a:rPr lang="en-US" sz="1800" dirty="0"/>
              <a:t> TAILS = 1;</a:t>
            </a:r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en-US" sz="1800" dirty="0"/>
              <a:t>   private </a:t>
            </a:r>
            <a:r>
              <a:rPr lang="en-US" sz="1800" dirty="0" err="1"/>
              <a:t>int</a:t>
            </a:r>
            <a:r>
              <a:rPr lang="en-US" sz="1800" dirty="0"/>
              <a:t> face;</a:t>
            </a:r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en-US" sz="1800" dirty="0"/>
              <a:t>  public Coin () {</a:t>
            </a:r>
          </a:p>
          <a:p>
            <a:pPr>
              <a:buFontTx/>
              <a:buNone/>
            </a:pPr>
            <a:r>
              <a:rPr lang="en-US" sz="1800" dirty="0"/>
              <a:t>      flip();</a:t>
            </a:r>
          </a:p>
          <a:p>
            <a:pPr>
              <a:buFontTx/>
              <a:buNone/>
            </a:pPr>
            <a:r>
              <a:rPr lang="en-US" sz="1800" dirty="0"/>
              <a:t>   }</a:t>
            </a:r>
          </a:p>
          <a:p>
            <a:pPr>
              <a:buFontTx/>
              <a:buNone/>
            </a:pPr>
            <a:r>
              <a:rPr lang="en-US" sz="1800" dirty="0"/>
              <a:t>  public void flip () {</a:t>
            </a:r>
          </a:p>
          <a:p>
            <a:pPr>
              <a:buFontTx/>
              <a:buNone/>
            </a:pPr>
            <a:r>
              <a:rPr lang="en-US" sz="1800" dirty="0"/>
              <a:t>      face = (</a:t>
            </a:r>
            <a:r>
              <a:rPr lang="en-US" sz="1800" dirty="0" err="1"/>
              <a:t>int</a:t>
            </a:r>
            <a:r>
              <a:rPr lang="en-US" sz="1800" dirty="0"/>
              <a:t>) (</a:t>
            </a:r>
            <a:r>
              <a:rPr lang="en-US" sz="1800" dirty="0" err="1"/>
              <a:t>Math.random</a:t>
            </a:r>
            <a:r>
              <a:rPr lang="en-US" sz="1800" dirty="0"/>
              <a:t>() * 2);</a:t>
            </a:r>
          </a:p>
          <a:p>
            <a:pPr>
              <a:buFontTx/>
              <a:buNone/>
            </a:pPr>
            <a:r>
              <a:rPr lang="en-US" sz="1800" dirty="0"/>
              <a:t>   }</a:t>
            </a:r>
          </a:p>
          <a:p>
            <a:pPr>
              <a:buFontTx/>
              <a:buNone/>
            </a:pPr>
            <a:endParaRPr lang="en-US" sz="1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5105400" y="1371600"/>
            <a:ext cx="3429000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isHeads</a:t>
            </a:r>
            <a:r>
              <a:rPr lang="en-US" dirty="0"/>
              <a:t> () {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      return (face == HEADS);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   }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  public String </a:t>
            </a:r>
            <a:r>
              <a:rPr lang="en-US" dirty="0" err="1"/>
              <a:t>toString</a:t>
            </a:r>
            <a:r>
              <a:rPr lang="en-US" dirty="0"/>
              <a:t>() {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      String </a:t>
            </a:r>
            <a:r>
              <a:rPr lang="en-US" dirty="0" err="1"/>
              <a:t>faceName</a:t>
            </a:r>
            <a:r>
              <a:rPr lang="en-US" dirty="0"/>
              <a:t>;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      if (face == HEADS)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         </a:t>
            </a:r>
            <a:r>
              <a:rPr lang="en-US" dirty="0" err="1"/>
              <a:t>faceName</a:t>
            </a:r>
            <a:r>
              <a:rPr lang="en-US" dirty="0"/>
              <a:t> = "Heads";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      else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         </a:t>
            </a:r>
            <a:r>
              <a:rPr lang="en-US" dirty="0" err="1"/>
              <a:t>faceName</a:t>
            </a:r>
            <a:r>
              <a:rPr lang="en-US" dirty="0"/>
              <a:t> = "Tails";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      return </a:t>
            </a:r>
            <a:r>
              <a:rPr lang="en-US" dirty="0" err="1"/>
              <a:t>faceName</a:t>
            </a:r>
            <a:r>
              <a:rPr lang="en-US" dirty="0"/>
              <a:t>;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   }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</a:pPr>
            <a:r>
              <a:rPr lang="en-US" dirty="0"/>
              <a:t>}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1800" b="1" dirty="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44624"/>
            <a:ext cx="7886700" cy="1325563"/>
          </a:xfrm>
        </p:spPr>
        <p:txBody>
          <a:bodyPr/>
          <a:lstStyle/>
          <a:p>
            <a:r>
              <a:rPr lang="en-US" dirty="0"/>
              <a:t>Count Flips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419100" y="1196752"/>
            <a:ext cx="8305800" cy="5057775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sz="1800" dirty="0"/>
              <a:t>      final </a:t>
            </a:r>
            <a:r>
              <a:rPr lang="en-US" sz="1800" dirty="0" err="1"/>
              <a:t>int</a:t>
            </a:r>
            <a:r>
              <a:rPr lang="en-US" sz="1800" dirty="0"/>
              <a:t> NUM_FLIPS = 1000;</a:t>
            </a:r>
          </a:p>
          <a:p>
            <a:pPr>
              <a:buFontTx/>
              <a:buNone/>
            </a:pPr>
            <a:r>
              <a:rPr lang="en-US" sz="1800" dirty="0"/>
              <a:t>      </a:t>
            </a:r>
            <a:r>
              <a:rPr lang="en-US" sz="1800" dirty="0" err="1"/>
              <a:t>int</a:t>
            </a:r>
            <a:r>
              <a:rPr lang="en-US" sz="1800" dirty="0"/>
              <a:t> heads = 0, tails = 0;</a:t>
            </a:r>
          </a:p>
          <a:p>
            <a:pPr>
              <a:buFontTx/>
              <a:buNone/>
            </a:pPr>
            <a:r>
              <a:rPr lang="en-US" sz="1800" dirty="0"/>
              <a:t>      Coin </a:t>
            </a:r>
            <a:r>
              <a:rPr lang="en-US" sz="1800" dirty="0" err="1"/>
              <a:t>myCoin</a:t>
            </a:r>
            <a:r>
              <a:rPr lang="en-US" sz="1800" dirty="0"/>
              <a:t> = new Coin();  // instantiate the Coin object</a:t>
            </a:r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en-US" sz="1800" dirty="0"/>
              <a:t>      for (</a:t>
            </a:r>
            <a:r>
              <a:rPr lang="en-US" sz="1800" dirty="0" err="1"/>
              <a:t>int</a:t>
            </a:r>
            <a:r>
              <a:rPr lang="en-US" sz="1800" dirty="0"/>
              <a:t> count=1; count &lt;= NUM_FLIPS; count++)</a:t>
            </a:r>
          </a:p>
          <a:p>
            <a:pPr>
              <a:buFontTx/>
              <a:buNone/>
            </a:pPr>
            <a:r>
              <a:rPr lang="en-US" sz="1800" dirty="0"/>
              <a:t>      {</a:t>
            </a:r>
          </a:p>
          <a:p>
            <a:pPr>
              <a:buFontTx/>
              <a:buNone/>
            </a:pPr>
            <a:r>
              <a:rPr lang="en-US" sz="1800" dirty="0"/>
              <a:t>         </a:t>
            </a:r>
            <a:r>
              <a:rPr lang="en-US" sz="1800" dirty="0" err="1"/>
              <a:t>myCoin.flip</a:t>
            </a:r>
            <a:r>
              <a:rPr lang="en-US" sz="1800" dirty="0"/>
              <a:t>();</a:t>
            </a:r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en-US" sz="1800" dirty="0"/>
              <a:t>         if (</a:t>
            </a:r>
            <a:r>
              <a:rPr lang="en-US" sz="1800" dirty="0" err="1"/>
              <a:t>myCoin.isHeads</a:t>
            </a:r>
            <a:r>
              <a:rPr lang="en-US" sz="1800" dirty="0"/>
              <a:t>()) </a:t>
            </a:r>
          </a:p>
          <a:p>
            <a:pPr>
              <a:buFontTx/>
              <a:buNone/>
            </a:pPr>
            <a:r>
              <a:rPr lang="en-US" sz="1800" dirty="0"/>
              <a:t>            heads++;</a:t>
            </a:r>
          </a:p>
          <a:p>
            <a:pPr>
              <a:buFontTx/>
              <a:buNone/>
            </a:pPr>
            <a:r>
              <a:rPr lang="en-US" sz="1800" dirty="0"/>
              <a:t>         else</a:t>
            </a:r>
          </a:p>
          <a:p>
            <a:pPr>
              <a:buFontTx/>
              <a:buNone/>
            </a:pPr>
            <a:r>
              <a:rPr lang="en-US" sz="1800" dirty="0"/>
              <a:t>            tails++;</a:t>
            </a:r>
          </a:p>
          <a:p>
            <a:pPr>
              <a:buFontTx/>
              <a:buNone/>
            </a:pPr>
            <a:r>
              <a:rPr lang="en-US" sz="1800" dirty="0"/>
              <a:t>      }</a:t>
            </a:r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en-US" sz="1800" dirty="0"/>
              <a:t>      </a:t>
            </a:r>
            <a:r>
              <a:rPr lang="en-US" sz="1800" dirty="0" err="1"/>
              <a:t>System.out.println</a:t>
            </a:r>
            <a:r>
              <a:rPr lang="en-US" sz="1800" dirty="0"/>
              <a:t> ("The number flips: " + NUM_FLIPS);</a:t>
            </a:r>
          </a:p>
          <a:p>
            <a:pPr>
              <a:buFontTx/>
              <a:buNone/>
            </a:pPr>
            <a:r>
              <a:rPr lang="en-US" sz="1800" dirty="0"/>
              <a:t>      </a:t>
            </a:r>
            <a:r>
              <a:rPr lang="en-US" sz="1800" dirty="0" err="1"/>
              <a:t>System.out.println</a:t>
            </a:r>
            <a:r>
              <a:rPr lang="en-US" sz="1800" dirty="0"/>
              <a:t> ("The number of heads: " + heads);</a:t>
            </a:r>
          </a:p>
          <a:p>
            <a:pPr>
              <a:buFontTx/>
              <a:buNone/>
            </a:pPr>
            <a:r>
              <a:rPr lang="en-US" sz="1800" dirty="0"/>
              <a:t>      </a:t>
            </a:r>
            <a:r>
              <a:rPr lang="en-US" sz="1800" dirty="0" err="1"/>
              <a:t>System.out.println</a:t>
            </a:r>
            <a:r>
              <a:rPr lang="en-US" sz="1800" dirty="0"/>
              <a:t> ("The number of tails: " + tails);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886700" cy="1325563"/>
          </a:xfrm>
        </p:spPr>
        <p:txBody>
          <a:bodyPr/>
          <a:lstStyle/>
          <a:p>
            <a:r>
              <a:rPr lang="en-US" dirty="0" err="1"/>
              <a:t>FlipRace</a:t>
            </a:r>
            <a:endParaRPr lang="en-US" dirty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5486400" cy="49053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//  Flips two coins until one of them comes up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// heads three times  in a row.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public static void main (String[] </a:t>
            </a:r>
            <a:r>
              <a:rPr lang="en-US" sz="1600" dirty="0" err="1"/>
              <a:t>args</a:t>
            </a:r>
            <a:r>
              <a:rPr lang="en-US" sz="1600" dirty="0"/>
              <a:t>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final </a:t>
            </a:r>
            <a:r>
              <a:rPr lang="en-US" sz="1600" dirty="0" err="1"/>
              <a:t>int</a:t>
            </a:r>
            <a:r>
              <a:rPr lang="en-US" sz="1600" dirty="0"/>
              <a:t> GOAL = 3;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</a:t>
            </a:r>
            <a:r>
              <a:rPr lang="en-US" sz="1600" dirty="0" err="1"/>
              <a:t>int</a:t>
            </a:r>
            <a:r>
              <a:rPr lang="en-US" sz="1600" dirty="0"/>
              <a:t> count1 = 0, count2 = 0;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// Create two separate coin objects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Coin coin1 = new Coin();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Coin coin2 = new Coin();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while (count1 &lt; GOAL &amp;&amp; count2 &lt; GOAL)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   coin1.flip();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   coin2.flip();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   // Print the flip results (uses Coin's </a:t>
            </a:r>
            <a:r>
              <a:rPr lang="en-US" sz="1600" dirty="0" err="1"/>
              <a:t>toString</a:t>
            </a:r>
            <a:r>
              <a:rPr lang="en-US" sz="1600" dirty="0"/>
              <a:t> method)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   </a:t>
            </a:r>
            <a:r>
              <a:rPr lang="en-US" sz="1600" dirty="0" err="1"/>
              <a:t>System.out.print</a:t>
            </a:r>
            <a:r>
              <a:rPr lang="en-US" sz="1600" dirty="0"/>
              <a:t> ("Coin 1: " + coin1);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   </a:t>
            </a:r>
            <a:r>
              <a:rPr lang="en-US" sz="1600" dirty="0" err="1"/>
              <a:t>System.out.println</a:t>
            </a:r>
            <a:r>
              <a:rPr lang="en-US" sz="1600" dirty="0"/>
              <a:t> ("   Coin 2: " + coin2);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   // Increment or reset the counters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   count1 = (coin1.isHeads()) ? count1+1 :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   count2 = (coin2.isHeads()) ? count2+1 :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 dirty="0"/>
              <a:t>      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 dirty="0"/>
          </a:p>
          <a:p>
            <a:pPr>
              <a:lnSpc>
                <a:spcPct val="80000"/>
              </a:lnSpc>
              <a:buFontTx/>
              <a:buNone/>
            </a:pPr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5111051" y="1556792"/>
            <a:ext cx="4419600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71450" indent="-171450" defTabSz="685800">
              <a:lnSpc>
                <a:spcPct val="60000"/>
              </a:lnSpc>
              <a:spcBef>
                <a:spcPts val="750"/>
              </a:spcBef>
            </a:pPr>
            <a:r>
              <a:rPr lang="en-US" sz="1200" dirty="0"/>
              <a:t>// Determine the winner</a:t>
            </a:r>
          </a:p>
          <a:p>
            <a:pPr marL="171450" indent="-171450" defTabSz="685800">
              <a:lnSpc>
                <a:spcPct val="60000"/>
              </a:lnSpc>
              <a:spcBef>
                <a:spcPts val="750"/>
              </a:spcBef>
            </a:pPr>
            <a:r>
              <a:rPr lang="en-US" sz="1200" dirty="0"/>
              <a:t>      if (count1 &lt; GOAL)</a:t>
            </a:r>
          </a:p>
          <a:p>
            <a:pPr marL="171450" indent="-171450" defTabSz="685800">
              <a:lnSpc>
                <a:spcPct val="60000"/>
              </a:lnSpc>
              <a:spcBef>
                <a:spcPts val="750"/>
              </a:spcBef>
            </a:pPr>
            <a:r>
              <a:rPr lang="en-US" sz="1200" dirty="0"/>
              <a:t>         </a:t>
            </a:r>
            <a:r>
              <a:rPr lang="en-US" sz="1200" dirty="0" err="1"/>
              <a:t>System.out.println</a:t>
            </a:r>
            <a:r>
              <a:rPr lang="en-US" sz="1200" dirty="0"/>
              <a:t> ("Coin 2 Wins!");</a:t>
            </a:r>
          </a:p>
          <a:p>
            <a:pPr marL="171450" indent="-171450" defTabSz="685800">
              <a:lnSpc>
                <a:spcPct val="60000"/>
              </a:lnSpc>
              <a:spcBef>
                <a:spcPts val="750"/>
              </a:spcBef>
            </a:pPr>
            <a:r>
              <a:rPr lang="en-US" sz="1200" dirty="0"/>
              <a:t>      else</a:t>
            </a:r>
          </a:p>
          <a:p>
            <a:pPr marL="171450" indent="-171450" defTabSz="685800">
              <a:lnSpc>
                <a:spcPct val="60000"/>
              </a:lnSpc>
              <a:spcBef>
                <a:spcPts val="750"/>
              </a:spcBef>
            </a:pPr>
            <a:r>
              <a:rPr lang="en-US" sz="1200" dirty="0"/>
              <a:t>         if (count2 &lt; GOAL)</a:t>
            </a:r>
          </a:p>
          <a:p>
            <a:pPr marL="171450" indent="-171450" defTabSz="685800">
              <a:lnSpc>
                <a:spcPct val="60000"/>
              </a:lnSpc>
              <a:spcBef>
                <a:spcPts val="750"/>
              </a:spcBef>
            </a:pPr>
            <a:r>
              <a:rPr lang="en-US" sz="1200" dirty="0"/>
              <a:t>            </a:t>
            </a:r>
            <a:r>
              <a:rPr lang="en-US" sz="1200" dirty="0" err="1"/>
              <a:t>System.out.println</a:t>
            </a:r>
            <a:r>
              <a:rPr lang="en-US" sz="1200" dirty="0"/>
              <a:t> ("Coin 1 Wins!");</a:t>
            </a:r>
          </a:p>
          <a:p>
            <a:pPr marL="171450" indent="-171450" defTabSz="685800">
              <a:lnSpc>
                <a:spcPct val="60000"/>
              </a:lnSpc>
              <a:spcBef>
                <a:spcPts val="750"/>
              </a:spcBef>
            </a:pPr>
            <a:r>
              <a:rPr lang="en-US" sz="1200" dirty="0"/>
              <a:t>         else</a:t>
            </a:r>
          </a:p>
          <a:p>
            <a:pPr marL="171450" indent="-171450" defTabSz="685800">
              <a:lnSpc>
                <a:spcPct val="60000"/>
              </a:lnSpc>
              <a:spcBef>
                <a:spcPts val="750"/>
              </a:spcBef>
            </a:pPr>
            <a:r>
              <a:rPr lang="en-US" sz="1200" dirty="0"/>
              <a:t>            </a:t>
            </a:r>
            <a:r>
              <a:rPr lang="en-US" sz="1200" dirty="0" err="1"/>
              <a:t>System.out.println</a:t>
            </a:r>
            <a:r>
              <a:rPr lang="en-US" sz="1200" dirty="0"/>
              <a:t> ("It's a TIE!");</a:t>
            </a:r>
          </a:p>
          <a:p>
            <a:pPr marL="171450" indent="-171450" defTabSz="685800">
              <a:lnSpc>
                <a:spcPct val="60000"/>
              </a:lnSpc>
              <a:spcBef>
                <a:spcPts val="750"/>
              </a:spcBef>
            </a:pPr>
            <a:r>
              <a:rPr lang="en-US" sz="1200" dirty="0"/>
              <a:t>   }</a:t>
            </a:r>
          </a:p>
          <a:p>
            <a:pPr marL="171450" indent="-171450" defTabSz="685800">
              <a:lnSpc>
                <a:spcPct val="60000"/>
              </a:lnSpc>
              <a:spcBef>
                <a:spcPts val="750"/>
              </a:spcBef>
            </a:pPr>
            <a:endParaRPr lang="en-US" sz="1200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 Diagrams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75000"/>
              </a:spcBef>
            </a:pPr>
            <a:r>
              <a:rPr lang="en-US"/>
              <a:t>UML stands for the </a:t>
            </a:r>
            <a:r>
              <a:rPr lang="en-US" i="1"/>
              <a:t>Unified Modeling Language</a:t>
            </a:r>
            <a:endParaRPr lang="en-US"/>
          </a:p>
          <a:p>
            <a:pPr>
              <a:spcBef>
                <a:spcPct val="75000"/>
              </a:spcBef>
            </a:pPr>
            <a:r>
              <a:rPr lang="en-US" i="1"/>
              <a:t>UML diagrams</a:t>
            </a:r>
            <a:r>
              <a:rPr lang="en-US"/>
              <a:t> show relationships among classes and objects</a:t>
            </a:r>
          </a:p>
          <a:p>
            <a:pPr>
              <a:spcBef>
                <a:spcPct val="75000"/>
              </a:spcBef>
            </a:pPr>
            <a:r>
              <a:rPr lang="en-US"/>
              <a:t>A UML </a:t>
            </a:r>
            <a:r>
              <a:rPr lang="en-US" i="1"/>
              <a:t>class diagram</a:t>
            </a:r>
            <a:r>
              <a:rPr lang="en-US"/>
              <a:t> consists of one or more classes, each with sections for the class name, attributes (data), and operations (methods)</a:t>
            </a:r>
          </a:p>
          <a:p>
            <a:pPr>
              <a:spcBef>
                <a:spcPct val="75000"/>
              </a:spcBef>
            </a:pPr>
            <a:r>
              <a:rPr lang="en-US"/>
              <a:t>Lines between classes represent </a:t>
            </a:r>
            <a:r>
              <a:rPr lang="en-US" i="1"/>
              <a:t>associations</a:t>
            </a:r>
            <a:endParaRPr lang="en-US"/>
          </a:p>
          <a:p>
            <a:pPr>
              <a:spcBef>
                <a:spcPct val="75000"/>
              </a:spcBef>
            </a:pPr>
            <a:r>
              <a:rPr lang="en-US"/>
              <a:t>A dotted arrow shows that one class </a:t>
            </a:r>
            <a:r>
              <a:rPr lang="en-US" i="1"/>
              <a:t>uses</a:t>
            </a:r>
            <a:r>
              <a:rPr lang="en-US"/>
              <a:t> the other (calls its methods)</a:t>
            </a:r>
            <a:endParaRPr lang="en-US" i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 Class Diagrams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219200"/>
            <a:ext cx="7772400" cy="76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 UML class diagram for the </a:t>
            </a:r>
            <a:r>
              <a:rPr lang="en-US">
                <a:latin typeface="Courier New" pitchFamily="49" charset="0"/>
              </a:rPr>
              <a:t>RollingDice</a:t>
            </a:r>
            <a:r>
              <a:rPr lang="en-US"/>
              <a:t> program: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7FD449-D1B0-461F-BC82-8D23BBE841F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95400" y="2590800"/>
            <a:ext cx="7162800" cy="2057400"/>
            <a:chOff x="816" y="1632"/>
            <a:chExt cx="4512" cy="1296"/>
          </a:xfrm>
        </p:grpSpPr>
        <p:sp>
          <p:nvSpPr>
            <p:cNvPr id="22533" name="Rectangle 5"/>
            <p:cNvSpPr>
              <a:spLocks noChangeArrowheads="1"/>
            </p:cNvSpPr>
            <p:nvPr/>
          </p:nvSpPr>
          <p:spPr bwMode="auto">
            <a:xfrm>
              <a:off x="816" y="1632"/>
              <a:ext cx="1920" cy="258"/>
            </a:xfrm>
            <a:prstGeom prst="rect">
              <a:avLst/>
            </a:prstGeom>
            <a:solidFill>
              <a:srgbClr val="96FE9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rgbClr val="7030A0"/>
                  </a:solidFill>
                  <a:latin typeface="Arial Unicode MS" pitchFamily="34" charset="-128"/>
                </a:rPr>
                <a:t>RollingDice</a:t>
              </a:r>
              <a:endParaRPr lang="en-US" sz="2000" b="1" dirty="0">
                <a:solidFill>
                  <a:srgbClr val="7030A0"/>
                </a:solidFill>
                <a:latin typeface="Arial Unicode MS" pitchFamily="34" charset="-128"/>
              </a:endParaRPr>
            </a:p>
          </p:txBody>
        </p:sp>
        <p:sp>
          <p:nvSpPr>
            <p:cNvPr id="22534" name="Rectangle 6"/>
            <p:cNvSpPr>
              <a:spLocks noChangeArrowheads="1"/>
            </p:cNvSpPr>
            <p:nvPr/>
          </p:nvSpPr>
          <p:spPr bwMode="auto">
            <a:xfrm>
              <a:off x="816" y="1890"/>
              <a:ext cx="1920" cy="192"/>
            </a:xfrm>
            <a:prstGeom prst="rect">
              <a:avLst/>
            </a:prstGeom>
            <a:solidFill>
              <a:srgbClr val="96FE9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pPr algn="ctr"/>
              <a:endParaRPr lang="en-US" sz="2000" b="1">
                <a:latin typeface="Verdana" pitchFamily="34" charset="0"/>
              </a:endParaRPr>
            </a:p>
          </p:txBody>
        </p:sp>
        <p:sp>
          <p:nvSpPr>
            <p:cNvPr id="22535" name="Rectangle 7"/>
            <p:cNvSpPr>
              <a:spLocks noChangeArrowheads="1"/>
            </p:cNvSpPr>
            <p:nvPr/>
          </p:nvSpPr>
          <p:spPr bwMode="auto">
            <a:xfrm>
              <a:off x="816" y="2073"/>
              <a:ext cx="1920" cy="297"/>
            </a:xfrm>
            <a:prstGeom prst="rect">
              <a:avLst/>
            </a:prstGeom>
            <a:solidFill>
              <a:srgbClr val="96FE9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r>
                <a:rPr lang="en-US" sz="1600" b="1" dirty="0">
                  <a:solidFill>
                    <a:srgbClr val="7030A0"/>
                  </a:solidFill>
                  <a:latin typeface="Arial Unicode MS" pitchFamily="34" charset="-128"/>
                </a:rPr>
                <a:t>main (</a:t>
              </a:r>
              <a:r>
                <a:rPr lang="en-US" sz="1600" b="1" dirty="0" err="1">
                  <a:solidFill>
                    <a:srgbClr val="7030A0"/>
                  </a:solidFill>
                  <a:latin typeface="Arial Unicode MS" pitchFamily="34" charset="-128"/>
                </a:rPr>
                <a:t>args</a:t>
              </a:r>
              <a:r>
                <a:rPr lang="en-US" sz="1600" b="1" dirty="0">
                  <a:solidFill>
                    <a:srgbClr val="7030A0"/>
                  </a:solidFill>
                  <a:latin typeface="Arial Unicode MS" pitchFamily="34" charset="-128"/>
                </a:rPr>
                <a:t> : String[]) : void</a:t>
              </a:r>
            </a:p>
          </p:txBody>
        </p:sp>
        <p:sp>
          <p:nvSpPr>
            <p:cNvPr id="22536" name="Rectangle 8"/>
            <p:cNvSpPr>
              <a:spLocks noChangeArrowheads="1"/>
            </p:cNvSpPr>
            <p:nvPr/>
          </p:nvSpPr>
          <p:spPr bwMode="auto">
            <a:xfrm>
              <a:off x="3264" y="1641"/>
              <a:ext cx="2064" cy="258"/>
            </a:xfrm>
            <a:prstGeom prst="rect">
              <a:avLst/>
            </a:prstGeom>
            <a:solidFill>
              <a:srgbClr val="96FE9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  <a:latin typeface="Arial Unicode MS" pitchFamily="34" charset="-128"/>
                </a:rPr>
                <a:t>dice</a:t>
              </a:r>
            </a:p>
          </p:txBody>
        </p:sp>
        <p:sp>
          <p:nvSpPr>
            <p:cNvPr id="22537" name="Rectangle 9"/>
            <p:cNvSpPr>
              <a:spLocks noChangeArrowheads="1"/>
            </p:cNvSpPr>
            <p:nvPr/>
          </p:nvSpPr>
          <p:spPr bwMode="auto">
            <a:xfrm>
              <a:off x="3264" y="1899"/>
              <a:ext cx="2064" cy="279"/>
            </a:xfrm>
            <a:prstGeom prst="rect">
              <a:avLst/>
            </a:prstGeom>
            <a:solidFill>
              <a:srgbClr val="96FE9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r>
                <a:rPr lang="en-US" sz="1600" b="1" dirty="0" err="1">
                  <a:solidFill>
                    <a:srgbClr val="7030A0"/>
                  </a:solidFill>
                  <a:latin typeface="Arial Unicode MS" pitchFamily="34" charset="-128"/>
                </a:rPr>
                <a:t>faceValue</a:t>
              </a:r>
              <a:r>
                <a:rPr lang="en-US" sz="1600" b="1" dirty="0">
                  <a:solidFill>
                    <a:srgbClr val="7030A0"/>
                  </a:solidFill>
                  <a:latin typeface="Arial Unicode MS" pitchFamily="34" charset="-128"/>
                </a:rPr>
                <a:t> : </a:t>
              </a:r>
              <a:r>
                <a:rPr lang="en-US" sz="1600" b="1" dirty="0" err="1">
                  <a:solidFill>
                    <a:srgbClr val="7030A0"/>
                  </a:solidFill>
                  <a:latin typeface="Arial Unicode MS" pitchFamily="34" charset="-128"/>
                </a:rPr>
                <a:t>int</a:t>
              </a:r>
              <a:endParaRPr lang="en-US" sz="1600" b="1" dirty="0">
                <a:solidFill>
                  <a:srgbClr val="7030A0"/>
                </a:solidFill>
                <a:latin typeface="Arial Unicode MS" pitchFamily="34" charset="-128"/>
              </a:endParaRPr>
            </a:p>
            <a:p>
              <a:r>
                <a:rPr lang="en-US" sz="1600" b="1" dirty="0" err="1">
                  <a:solidFill>
                    <a:srgbClr val="7030A0"/>
                  </a:solidFill>
                  <a:latin typeface="Arial Unicode MS" pitchFamily="34" charset="-128"/>
                </a:rPr>
                <a:t>numFaces</a:t>
              </a:r>
              <a:r>
                <a:rPr lang="en-US" sz="1600" b="1" dirty="0">
                  <a:solidFill>
                    <a:srgbClr val="7030A0"/>
                  </a:solidFill>
                  <a:latin typeface="Arial Unicode MS" pitchFamily="34" charset="-128"/>
                </a:rPr>
                <a:t>: </a:t>
              </a:r>
              <a:r>
                <a:rPr lang="en-US" sz="1600" b="1" dirty="0" err="1">
                  <a:solidFill>
                    <a:srgbClr val="7030A0"/>
                  </a:solidFill>
                  <a:latin typeface="Arial Unicode MS" pitchFamily="34" charset="-128"/>
                </a:rPr>
                <a:t>int</a:t>
              </a:r>
              <a:endParaRPr lang="en-US" sz="1600" b="1" dirty="0">
                <a:solidFill>
                  <a:srgbClr val="7030A0"/>
                </a:solidFill>
                <a:latin typeface="Arial Unicode MS" pitchFamily="34" charset="-128"/>
              </a:endParaRPr>
            </a:p>
          </p:txBody>
        </p:sp>
        <p:sp>
          <p:nvSpPr>
            <p:cNvPr id="22538" name="Rectangle 10"/>
            <p:cNvSpPr>
              <a:spLocks noChangeArrowheads="1"/>
            </p:cNvSpPr>
            <p:nvPr/>
          </p:nvSpPr>
          <p:spPr bwMode="auto">
            <a:xfrm>
              <a:off x="3264" y="2178"/>
              <a:ext cx="2064" cy="750"/>
            </a:xfrm>
            <a:prstGeom prst="rect">
              <a:avLst/>
            </a:prstGeom>
            <a:solidFill>
              <a:srgbClr val="96FE9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r>
                <a:rPr lang="en-US" sz="1600" b="1" dirty="0">
                  <a:solidFill>
                    <a:srgbClr val="7030A0"/>
                  </a:solidFill>
                  <a:latin typeface="Arial Unicode MS" pitchFamily="34" charset="-128"/>
                </a:rPr>
                <a:t>roll() : </a:t>
              </a:r>
              <a:r>
                <a:rPr lang="en-US" sz="1600" b="1" dirty="0" err="1">
                  <a:solidFill>
                    <a:srgbClr val="7030A0"/>
                  </a:solidFill>
                  <a:latin typeface="Arial Unicode MS" pitchFamily="34" charset="-128"/>
                </a:rPr>
                <a:t>int</a:t>
              </a:r>
              <a:endParaRPr lang="en-US" sz="1600" b="1" dirty="0">
                <a:solidFill>
                  <a:srgbClr val="7030A0"/>
                </a:solidFill>
                <a:latin typeface="Arial Unicode MS" pitchFamily="34" charset="-128"/>
              </a:endParaRPr>
            </a:p>
            <a:p>
              <a:r>
                <a:rPr lang="en-US" sz="1600" b="1" dirty="0" err="1">
                  <a:solidFill>
                    <a:srgbClr val="7030A0"/>
                  </a:solidFill>
                  <a:latin typeface="Arial Unicode MS" pitchFamily="34" charset="-128"/>
                </a:rPr>
                <a:t>setFaceValue</a:t>
              </a:r>
              <a:r>
                <a:rPr lang="en-US" sz="1600" b="1" dirty="0">
                  <a:solidFill>
                    <a:srgbClr val="7030A0"/>
                  </a:solidFill>
                  <a:latin typeface="Arial Unicode MS" pitchFamily="34" charset="-128"/>
                </a:rPr>
                <a:t> (</a:t>
              </a:r>
              <a:r>
                <a:rPr lang="en-US" sz="1600" b="1" dirty="0" err="1">
                  <a:solidFill>
                    <a:srgbClr val="7030A0"/>
                  </a:solidFill>
                  <a:latin typeface="Arial Unicode MS" pitchFamily="34" charset="-128"/>
                </a:rPr>
                <a:t>int</a:t>
              </a:r>
              <a:r>
                <a:rPr lang="en-US" sz="1600" b="1" dirty="0">
                  <a:solidFill>
                    <a:srgbClr val="7030A0"/>
                  </a:solidFill>
                  <a:latin typeface="Arial Unicode MS" pitchFamily="34" charset="-128"/>
                </a:rPr>
                <a:t> value) : void</a:t>
              </a:r>
            </a:p>
            <a:p>
              <a:r>
                <a:rPr lang="en-US" sz="1600" b="1" dirty="0" err="1">
                  <a:solidFill>
                    <a:srgbClr val="7030A0"/>
                  </a:solidFill>
                  <a:latin typeface="Arial Unicode MS" pitchFamily="34" charset="-128"/>
                </a:rPr>
                <a:t>getFaceValue</a:t>
              </a:r>
              <a:r>
                <a:rPr lang="en-US" sz="1600" b="1" dirty="0">
                  <a:solidFill>
                    <a:srgbClr val="7030A0"/>
                  </a:solidFill>
                  <a:latin typeface="Arial Unicode MS" pitchFamily="34" charset="-128"/>
                </a:rPr>
                <a:t>() : </a:t>
              </a:r>
              <a:r>
                <a:rPr lang="en-US" sz="1600" b="1" dirty="0" err="1">
                  <a:solidFill>
                    <a:srgbClr val="7030A0"/>
                  </a:solidFill>
                  <a:latin typeface="Arial Unicode MS" pitchFamily="34" charset="-128"/>
                </a:rPr>
                <a:t>int</a:t>
              </a:r>
              <a:endParaRPr lang="en-US" sz="1600" b="1" dirty="0">
                <a:solidFill>
                  <a:srgbClr val="7030A0"/>
                </a:solidFill>
                <a:latin typeface="Arial Unicode MS" pitchFamily="34" charset="-128"/>
              </a:endParaRPr>
            </a:p>
            <a:p>
              <a:r>
                <a:rPr lang="en-US" sz="1600" b="1" dirty="0" err="1">
                  <a:solidFill>
                    <a:srgbClr val="7030A0"/>
                  </a:solidFill>
                  <a:latin typeface="Arial Unicode MS" pitchFamily="34" charset="-128"/>
                </a:rPr>
                <a:t>toString</a:t>
              </a:r>
              <a:r>
                <a:rPr lang="en-US" sz="1600" b="1" dirty="0">
                  <a:solidFill>
                    <a:srgbClr val="7030A0"/>
                  </a:solidFill>
                  <a:latin typeface="Arial Unicode MS" pitchFamily="34" charset="-128"/>
                </a:rPr>
                <a:t>() : String</a:t>
              </a:r>
            </a:p>
          </p:txBody>
        </p:sp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 flipV="1">
              <a:off x="2736" y="1776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none" w="sm" len="sm"/>
              <a:tailEnd type="arrow" w="lg" len="med"/>
            </a:ln>
            <a:effectLst/>
          </p:spPr>
          <p:txBody>
            <a:bodyPr anchorCtr="1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Encapsulation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2075" tIns="46038" rIns="92075" bIns="46038"/>
          <a:lstStyle/>
          <a:p>
            <a:pPr>
              <a:spcBef>
                <a:spcPct val="75000"/>
              </a:spcBef>
            </a:pPr>
            <a:r>
              <a:rPr lang="en-US"/>
              <a:t>We can take one of two views of an object:</a:t>
            </a:r>
          </a:p>
          <a:p>
            <a:pPr lvl="1">
              <a:spcBef>
                <a:spcPct val="75000"/>
              </a:spcBef>
            </a:pPr>
            <a:r>
              <a:rPr lang="en-US"/>
              <a:t>internal  -  the details of the variables and methods of the class that defines it</a:t>
            </a:r>
          </a:p>
          <a:p>
            <a:pPr lvl="1">
              <a:spcBef>
                <a:spcPct val="75000"/>
              </a:spcBef>
            </a:pPr>
            <a:r>
              <a:rPr lang="en-US"/>
              <a:t>external  -  the services that an object provides and how the object interacts with the rest of the system</a:t>
            </a:r>
          </a:p>
          <a:p>
            <a:pPr>
              <a:spcBef>
                <a:spcPct val="75000"/>
              </a:spcBef>
            </a:pPr>
            <a:r>
              <a:rPr lang="en-US"/>
              <a:t>From the external view, an object is an </a:t>
            </a:r>
            <a:r>
              <a:rPr lang="en-US" i="1"/>
              <a:t>encapsulated</a:t>
            </a:r>
            <a:r>
              <a:rPr lang="en-US"/>
              <a:t> entity, providing a set of specific services</a:t>
            </a:r>
          </a:p>
          <a:p>
            <a:pPr>
              <a:spcBef>
                <a:spcPct val="75000"/>
              </a:spcBef>
            </a:pPr>
            <a:r>
              <a:rPr lang="en-US"/>
              <a:t>These services define the </a:t>
            </a:r>
            <a:r>
              <a:rPr lang="en-US" i="1"/>
              <a:t>interface</a:t>
            </a:r>
            <a:r>
              <a:rPr lang="en-US"/>
              <a:t> to the object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Encapsulation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2075" tIns="46038" rIns="92075" bIns="46038"/>
          <a:lstStyle/>
          <a:p>
            <a:pPr>
              <a:spcBef>
                <a:spcPct val="75000"/>
              </a:spcBef>
            </a:pPr>
            <a:r>
              <a:rPr lang="en-US"/>
              <a:t>One object (called the </a:t>
            </a:r>
            <a:r>
              <a:rPr lang="en-US" i="1"/>
              <a:t>client</a:t>
            </a:r>
            <a:r>
              <a:rPr lang="en-US"/>
              <a:t>) may use another object for the services it provides</a:t>
            </a:r>
          </a:p>
          <a:p>
            <a:pPr>
              <a:spcBef>
                <a:spcPct val="75000"/>
              </a:spcBef>
            </a:pPr>
            <a:r>
              <a:rPr lang="en-US"/>
              <a:t>The client of an object may request its services (call its methods), but it should not have to be aware of how those services are accomplished </a:t>
            </a:r>
          </a:p>
          <a:p>
            <a:pPr>
              <a:spcBef>
                <a:spcPct val="75000"/>
              </a:spcBef>
            </a:pPr>
            <a:r>
              <a:rPr lang="en-US"/>
              <a:t>Any changes to the object's state (its variables) should be made by that object's methods</a:t>
            </a:r>
          </a:p>
          <a:p>
            <a:pPr>
              <a:spcBef>
                <a:spcPct val="75000"/>
              </a:spcBef>
            </a:pPr>
            <a:r>
              <a:rPr lang="en-US"/>
              <a:t>We should make it difficult, if not impossible, for a client to access an object’s variables directly</a:t>
            </a:r>
          </a:p>
          <a:p>
            <a:pPr>
              <a:spcBef>
                <a:spcPct val="75000"/>
              </a:spcBef>
            </a:pPr>
            <a:r>
              <a:rPr lang="en-US"/>
              <a:t>That is, an object should be </a:t>
            </a:r>
            <a:r>
              <a:rPr lang="en-US" i="1"/>
              <a:t>self-governing</a:t>
            </a:r>
            <a:endParaRPr lang="en-US"/>
          </a:p>
          <a:p>
            <a:pPr>
              <a:spcBef>
                <a:spcPct val="75000"/>
              </a:spcBef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4114800" y="3581400"/>
            <a:ext cx="2895600" cy="2514600"/>
            <a:chOff x="2592" y="2256"/>
            <a:chExt cx="1824" cy="1584"/>
          </a:xfrm>
        </p:grpSpPr>
        <p:sp>
          <p:nvSpPr>
            <p:cNvPr id="26627" name="Rectangle 3"/>
            <p:cNvSpPr>
              <a:spLocks noChangeArrowheads="1"/>
            </p:cNvSpPr>
            <p:nvPr/>
          </p:nvSpPr>
          <p:spPr bwMode="auto">
            <a:xfrm>
              <a:off x="2880" y="2256"/>
              <a:ext cx="1536" cy="1584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28" name="Line 4"/>
            <p:cNvSpPr>
              <a:spLocks noChangeShapeType="1"/>
            </p:cNvSpPr>
            <p:nvPr/>
          </p:nvSpPr>
          <p:spPr bwMode="auto">
            <a:xfrm flipH="1">
              <a:off x="2640" y="2496"/>
              <a:ext cx="38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29" name="Oval 5"/>
            <p:cNvSpPr>
              <a:spLocks noChangeArrowheads="1"/>
            </p:cNvSpPr>
            <p:nvPr/>
          </p:nvSpPr>
          <p:spPr bwMode="auto">
            <a:xfrm>
              <a:off x="2592" y="2448"/>
              <a:ext cx="96" cy="96"/>
            </a:xfrm>
            <a:prstGeom prst="ellipse">
              <a:avLst/>
            </a:prstGeom>
            <a:solidFill>
              <a:srgbClr val="DE2C28"/>
            </a:solidFill>
            <a:ln w="12700">
              <a:solidFill>
                <a:srgbClr val="DE2C28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0" name="Line 6"/>
            <p:cNvSpPr>
              <a:spLocks noChangeShapeType="1"/>
            </p:cNvSpPr>
            <p:nvPr/>
          </p:nvSpPr>
          <p:spPr bwMode="auto">
            <a:xfrm flipH="1">
              <a:off x="2640" y="2640"/>
              <a:ext cx="38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1" name="Line 7"/>
            <p:cNvSpPr>
              <a:spLocks noChangeShapeType="1"/>
            </p:cNvSpPr>
            <p:nvPr/>
          </p:nvSpPr>
          <p:spPr bwMode="auto">
            <a:xfrm flipH="1">
              <a:off x="2640" y="2784"/>
              <a:ext cx="38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2" name="Oval 8"/>
            <p:cNvSpPr>
              <a:spLocks noChangeArrowheads="1"/>
            </p:cNvSpPr>
            <p:nvPr/>
          </p:nvSpPr>
          <p:spPr bwMode="auto">
            <a:xfrm>
              <a:off x="2592" y="2736"/>
              <a:ext cx="96" cy="96"/>
            </a:xfrm>
            <a:prstGeom prst="ellipse">
              <a:avLst/>
            </a:prstGeom>
            <a:solidFill>
              <a:srgbClr val="DE2C28"/>
            </a:solidFill>
            <a:ln w="12700">
              <a:solidFill>
                <a:srgbClr val="DE2C28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3" name="Oval 9"/>
            <p:cNvSpPr>
              <a:spLocks noChangeArrowheads="1"/>
            </p:cNvSpPr>
            <p:nvPr/>
          </p:nvSpPr>
          <p:spPr bwMode="auto">
            <a:xfrm>
              <a:off x="2592" y="2592"/>
              <a:ext cx="96" cy="96"/>
            </a:xfrm>
            <a:prstGeom prst="ellipse">
              <a:avLst/>
            </a:prstGeom>
            <a:solidFill>
              <a:srgbClr val="DE2C28"/>
            </a:solidFill>
            <a:ln w="12700">
              <a:solidFill>
                <a:srgbClr val="DE2C28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34" name="Rectangle 10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Encapsulation</a:t>
            </a:r>
          </a:p>
        </p:txBody>
      </p:sp>
      <p:sp>
        <p:nvSpPr>
          <p:cNvPr id="26635" name="Rectangle 11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20574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/>
              <a:t>An encapsulated object can be thought of as a </a:t>
            </a:r>
            <a:r>
              <a:rPr lang="en-US" i="1"/>
              <a:t>black box</a:t>
            </a:r>
            <a:r>
              <a:rPr lang="en-US"/>
              <a:t> -- its inner workings are hidden from the client</a:t>
            </a:r>
          </a:p>
          <a:p>
            <a:pPr>
              <a:lnSpc>
                <a:spcPct val="90000"/>
              </a:lnSpc>
              <a:spcBef>
                <a:spcPct val="70000"/>
              </a:spcBef>
            </a:pPr>
            <a:r>
              <a:rPr lang="en-US"/>
              <a:t>The client invokes the interface methods of the object, which manages the instance data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4800600" y="3810000"/>
            <a:ext cx="1981200" cy="2057400"/>
            <a:chOff x="3024" y="2400"/>
            <a:chExt cx="1248" cy="1296"/>
          </a:xfrm>
        </p:grpSpPr>
        <p:sp>
          <p:nvSpPr>
            <p:cNvPr id="26638" name="Rectangle 14"/>
            <p:cNvSpPr>
              <a:spLocks noChangeArrowheads="1"/>
            </p:cNvSpPr>
            <p:nvPr/>
          </p:nvSpPr>
          <p:spPr bwMode="auto">
            <a:xfrm>
              <a:off x="3024" y="2400"/>
              <a:ext cx="1248" cy="480"/>
            </a:xfrm>
            <a:prstGeom prst="rect">
              <a:avLst/>
            </a:prstGeom>
            <a:solidFill>
              <a:srgbClr val="F5E985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  <a:latin typeface="Arial" charset="0"/>
                </a:rPr>
                <a:t>Methods</a:t>
              </a:r>
              <a:endParaRPr lang="en-US" dirty="0">
                <a:solidFill>
                  <a:srgbClr val="7030A0"/>
                </a:solidFill>
                <a:latin typeface="Times New Roman" pitchFamily="18" charset="0"/>
              </a:endParaRPr>
            </a:p>
          </p:txBody>
        </p:sp>
        <p:sp>
          <p:nvSpPr>
            <p:cNvPr id="26639" name="Rectangle 15"/>
            <p:cNvSpPr>
              <a:spLocks noChangeArrowheads="1"/>
            </p:cNvSpPr>
            <p:nvPr/>
          </p:nvSpPr>
          <p:spPr bwMode="auto">
            <a:xfrm>
              <a:off x="3024" y="3264"/>
              <a:ext cx="1248" cy="432"/>
            </a:xfrm>
            <a:prstGeom prst="rect">
              <a:avLst/>
            </a:prstGeom>
            <a:solidFill>
              <a:srgbClr val="F5E985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7030A0"/>
                  </a:solidFill>
                  <a:latin typeface="Arial" charset="0"/>
                </a:rPr>
                <a:t>Data</a:t>
              </a:r>
              <a:endParaRPr lang="en-US">
                <a:solidFill>
                  <a:srgbClr val="7030A0"/>
                </a:solidFill>
                <a:latin typeface="Times New Roman" pitchFamily="18" charset="0"/>
              </a:endParaRPr>
            </a:p>
          </p:txBody>
        </p:sp>
        <p:sp>
          <p:nvSpPr>
            <p:cNvPr id="26640" name="AutoShape 16"/>
            <p:cNvSpPr>
              <a:spLocks noChangeArrowheads="1"/>
            </p:cNvSpPr>
            <p:nvPr/>
          </p:nvSpPr>
          <p:spPr bwMode="auto">
            <a:xfrm>
              <a:off x="3600" y="2880"/>
              <a:ext cx="144" cy="384"/>
            </a:xfrm>
            <a:prstGeom prst="upDownArrow">
              <a:avLst>
                <a:gd name="adj1" fmla="val 50000"/>
                <a:gd name="adj2" fmla="val 53333"/>
              </a:avLst>
            </a:prstGeom>
            <a:solidFill>
              <a:srgbClr val="DE2C28"/>
            </a:solidFill>
            <a:ln w="12700">
              <a:solidFill>
                <a:srgbClr val="DE2C28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1905000" y="3941763"/>
            <a:ext cx="2057400" cy="401637"/>
            <a:chOff x="1200" y="2483"/>
            <a:chExt cx="1296" cy="253"/>
          </a:xfrm>
        </p:grpSpPr>
        <p:sp>
          <p:nvSpPr>
            <p:cNvPr id="26636" name="Text Box 12"/>
            <p:cNvSpPr txBox="1">
              <a:spLocks noChangeArrowheads="1"/>
            </p:cNvSpPr>
            <p:nvPr/>
          </p:nvSpPr>
          <p:spPr bwMode="auto">
            <a:xfrm>
              <a:off x="1200" y="2483"/>
              <a:ext cx="635" cy="25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b="1">
                  <a:solidFill>
                    <a:schemeClr val="hlink"/>
                  </a:solidFill>
                  <a:latin typeface="Verdana" pitchFamily="34" charset="0"/>
                </a:rPr>
                <a:t>Client</a:t>
              </a:r>
              <a:endParaRPr lang="en-US">
                <a:solidFill>
                  <a:schemeClr val="hlink"/>
                </a:solidFill>
                <a:latin typeface="Verdana" pitchFamily="34" charset="0"/>
              </a:endParaRPr>
            </a:p>
          </p:txBody>
        </p:sp>
        <p:sp>
          <p:nvSpPr>
            <p:cNvPr id="26646" name="AutoShape 22"/>
            <p:cNvSpPr>
              <a:spLocks noChangeArrowheads="1"/>
            </p:cNvSpPr>
            <p:nvPr/>
          </p:nvSpPr>
          <p:spPr bwMode="auto">
            <a:xfrm>
              <a:off x="1872" y="2544"/>
              <a:ext cx="624" cy="144"/>
            </a:xfrm>
            <a:prstGeom prst="leftRightArrow">
              <a:avLst>
                <a:gd name="adj1" fmla="val 50000"/>
                <a:gd name="adj2" fmla="val 86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Visibility Modifiers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2075" tIns="46038" rIns="92075" bIns="46038"/>
          <a:lstStyle/>
          <a:p>
            <a:pPr>
              <a:spcBef>
                <a:spcPct val="75000"/>
              </a:spcBef>
            </a:pPr>
            <a:r>
              <a:rPr lang="en-US"/>
              <a:t>In Java, we accomplish encapsulation through the appropriate use of </a:t>
            </a:r>
            <a:r>
              <a:rPr lang="en-US" i="1"/>
              <a:t>visibility modifiers</a:t>
            </a:r>
            <a:endParaRPr lang="en-US"/>
          </a:p>
          <a:p>
            <a:pPr>
              <a:spcBef>
                <a:spcPct val="75000"/>
              </a:spcBef>
            </a:pPr>
            <a:r>
              <a:rPr lang="en-US"/>
              <a:t>A </a:t>
            </a:r>
            <a:r>
              <a:rPr lang="en-US" i="1"/>
              <a:t>modifier</a:t>
            </a:r>
            <a:r>
              <a:rPr lang="en-US"/>
              <a:t> is a Java reserved word that specifies particular characteristics of a method or data</a:t>
            </a:r>
          </a:p>
          <a:p>
            <a:pPr>
              <a:spcBef>
                <a:spcPct val="75000"/>
              </a:spcBef>
            </a:pPr>
            <a:r>
              <a:rPr lang="en-US"/>
              <a:t>We've used the </a:t>
            </a:r>
            <a:r>
              <a:rPr lang="en-US">
                <a:latin typeface="Courier New" pitchFamily="49" charset="0"/>
              </a:rPr>
              <a:t>final</a:t>
            </a:r>
            <a:r>
              <a:rPr lang="en-US"/>
              <a:t> modifier to define constants</a:t>
            </a:r>
          </a:p>
          <a:p>
            <a:pPr>
              <a:spcBef>
                <a:spcPct val="75000"/>
              </a:spcBef>
            </a:pPr>
            <a:r>
              <a:rPr lang="en-US"/>
              <a:t>Java has three visibility modifiers:  </a:t>
            </a:r>
            <a:r>
              <a:rPr lang="en-US">
                <a:latin typeface="Courier New" pitchFamily="49" charset="0"/>
              </a:rPr>
              <a:t>public</a:t>
            </a:r>
            <a:r>
              <a:rPr lang="en-US"/>
              <a:t>, </a:t>
            </a:r>
            <a:r>
              <a:rPr lang="en-US">
                <a:latin typeface="Courier New" pitchFamily="49" charset="0"/>
              </a:rPr>
              <a:t>protected</a:t>
            </a:r>
            <a:r>
              <a:rPr lang="en-US"/>
              <a:t>, and </a:t>
            </a:r>
            <a:r>
              <a:rPr lang="en-US">
                <a:latin typeface="Courier New" pitchFamily="49" charset="0"/>
              </a:rPr>
              <a:t>private</a:t>
            </a:r>
          </a:p>
          <a:p>
            <a:pPr>
              <a:spcBef>
                <a:spcPct val="75000"/>
              </a:spcBef>
            </a:pPr>
            <a:r>
              <a:rPr lang="en-US"/>
              <a:t>The </a:t>
            </a:r>
            <a:r>
              <a:rPr lang="en-US">
                <a:latin typeface="Courier New" pitchFamily="49" charset="0"/>
              </a:rPr>
              <a:t>protected</a:t>
            </a:r>
            <a:r>
              <a:rPr lang="en-US"/>
              <a:t> modifier involves inheritance, which we will discuss later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Visibility Modifiers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2075" tIns="46038" rIns="92075" bIns="46038"/>
          <a:lstStyle/>
          <a:p>
            <a:pPr>
              <a:spcBef>
                <a:spcPct val="75000"/>
              </a:spcBef>
            </a:pPr>
            <a:r>
              <a:rPr lang="en-US"/>
              <a:t>Members of a class that are declared with </a:t>
            </a:r>
            <a:r>
              <a:rPr lang="en-US" i="1"/>
              <a:t>public visibility</a:t>
            </a:r>
            <a:r>
              <a:rPr lang="en-US"/>
              <a:t> can be referenced anywhere</a:t>
            </a:r>
          </a:p>
          <a:p>
            <a:pPr>
              <a:spcBef>
                <a:spcPct val="75000"/>
              </a:spcBef>
            </a:pPr>
            <a:r>
              <a:rPr lang="en-US"/>
              <a:t>Members of a class that are declared with </a:t>
            </a:r>
            <a:r>
              <a:rPr lang="en-US" i="1"/>
              <a:t>private visibility</a:t>
            </a:r>
            <a:r>
              <a:rPr lang="en-US"/>
              <a:t> can be referenced only within that class</a:t>
            </a:r>
          </a:p>
          <a:p>
            <a:pPr>
              <a:spcBef>
                <a:spcPct val="75000"/>
              </a:spcBef>
            </a:pPr>
            <a:r>
              <a:rPr lang="en-US"/>
              <a:t>Members declared without a visibility modifier have </a:t>
            </a:r>
            <a:r>
              <a:rPr lang="en-US" i="1"/>
              <a:t>default visibility</a:t>
            </a:r>
            <a:r>
              <a:rPr lang="en-US"/>
              <a:t> and can be referenced by any class in the same package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914400" y="228600"/>
            <a:ext cx="3886200" cy="3522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package s.t;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public class A {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   private int pv;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   int d;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   public int pb;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endParaRPr lang="en-US"/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   m(…) {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	pv = 0; // OK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	d = 0; // OK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	pb = 0; // OK</a:t>
            </a: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5105400" y="228600"/>
            <a:ext cx="3886200" cy="28019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package s.t;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public class B {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  …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   m(…) {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   	A a = new A(..);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	a.pv = 0; // ERROR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	a.d = 0; // OK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	a.pb = 0; // OK</a:t>
            </a: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5105400" y="3657600"/>
            <a:ext cx="3886200" cy="28019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package s.u;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public class C {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  …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   m(…) {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   	A a = new A(..);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	a.pv = 0; // ERROR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	a.d = 0; // ERROR</a:t>
            </a:r>
          </a:p>
          <a:p>
            <a:pPr>
              <a:lnSpc>
                <a:spcPts val="1400"/>
              </a:lnSpc>
              <a:spcBef>
                <a:spcPct val="50000"/>
              </a:spcBef>
            </a:pPr>
            <a:r>
              <a:rPr lang="en-US"/>
              <a:t>	a.pb = 0; // OK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4-</a:t>
            </a:r>
            <a:fld id="{AB59CB9D-DEBD-4B78-AF8B-530127721E2A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Visibility Modifiers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2075" tIns="46038" rIns="92075" bIns="46038"/>
          <a:lstStyle/>
          <a:p>
            <a:pPr>
              <a:spcBef>
                <a:spcPct val="75000"/>
              </a:spcBef>
            </a:pPr>
            <a:r>
              <a:rPr lang="en-US"/>
              <a:t>Public variables violate encapsulation because they allow the client to “reach in” and modify the values directly</a:t>
            </a:r>
          </a:p>
          <a:p>
            <a:pPr>
              <a:spcBef>
                <a:spcPct val="75000"/>
              </a:spcBef>
            </a:pPr>
            <a:r>
              <a:rPr lang="en-US"/>
              <a:t>Therefore instance variables should not be declared with public visibility</a:t>
            </a:r>
          </a:p>
          <a:p>
            <a:pPr>
              <a:spcBef>
                <a:spcPct val="75000"/>
              </a:spcBef>
            </a:pPr>
            <a:r>
              <a:rPr lang="en-US"/>
              <a:t>It is acceptable to give a constant public visibility, which allows it to be used outside of the class</a:t>
            </a:r>
          </a:p>
          <a:p>
            <a:pPr>
              <a:spcBef>
                <a:spcPct val="75000"/>
              </a:spcBef>
            </a:pPr>
            <a:r>
              <a:rPr lang="en-US"/>
              <a:t>Public constants do not violate encapsulation because, although the client can access it, its value cannot be changed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Visibility Modifiers</a:t>
            </a:r>
          </a:p>
        </p:txBody>
      </p:sp>
      <p:sp>
        <p:nvSpPr>
          <p:cNvPr id="55299" name="Rectangle 1027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/>
              <a:t>Methods that provide the object's services are declared with public visibility so that they can be invoked by clients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/>
              <a:t>Public methods are also called </a:t>
            </a:r>
            <a:r>
              <a:rPr lang="en-US" i="1"/>
              <a:t>service methods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/>
              <a:t>A method created simply to assist a service method is called a </a:t>
            </a:r>
            <a:r>
              <a:rPr lang="en-US" i="1"/>
              <a:t>support method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/>
              <a:t>Since a support method is not intended to be called by a client, it should not be declared with public visibility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Visibility Modifiers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1219200" y="1600200"/>
            <a:ext cx="7239000" cy="3276600"/>
            <a:chOff x="768" y="1008"/>
            <a:chExt cx="4560" cy="2064"/>
          </a:xfrm>
        </p:grpSpPr>
        <p:sp>
          <p:nvSpPr>
            <p:cNvPr id="30724" name="Text Box 4"/>
            <p:cNvSpPr txBox="1">
              <a:spLocks noChangeArrowheads="1"/>
            </p:cNvSpPr>
            <p:nvPr/>
          </p:nvSpPr>
          <p:spPr bwMode="auto">
            <a:xfrm>
              <a:off x="2266" y="1008"/>
              <a:ext cx="80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Ctr="1">
              <a:spAutoFit/>
            </a:bodyPr>
            <a:lstStyle/>
            <a:p>
              <a:pPr algn="ctr"/>
              <a:r>
                <a:rPr lang="en-US" b="1">
                  <a:latin typeface="Courier New" pitchFamily="49" charset="0"/>
                </a:rPr>
                <a:t>public</a:t>
              </a:r>
            </a:p>
          </p:txBody>
        </p:sp>
        <p:sp>
          <p:nvSpPr>
            <p:cNvPr id="30725" name="Text Box 5"/>
            <p:cNvSpPr txBox="1">
              <a:spLocks noChangeArrowheads="1"/>
            </p:cNvSpPr>
            <p:nvPr/>
          </p:nvSpPr>
          <p:spPr bwMode="auto">
            <a:xfrm>
              <a:off x="3936" y="1008"/>
              <a:ext cx="921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Ctr="1">
              <a:spAutoFit/>
            </a:bodyPr>
            <a:lstStyle/>
            <a:p>
              <a:pPr algn="ctr"/>
              <a:r>
                <a:rPr lang="en-US" b="1">
                  <a:latin typeface="Courier New" pitchFamily="49" charset="0"/>
                </a:rPr>
                <a:t>private</a:t>
              </a:r>
            </a:p>
          </p:txBody>
        </p:sp>
        <p:sp>
          <p:nvSpPr>
            <p:cNvPr id="30726" name="Text Box 6"/>
            <p:cNvSpPr txBox="1">
              <a:spLocks noChangeArrowheads="1"/>
            </p:cNvSpPr>
            <p:nvPr/>
          </p:nvSpPr>
          <p:spPr bwMode="auto">
            <a:xfrm>
              <a:off x="768" y="1632"/>
              <a:ext cx="955" cy="25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Ctr="1">
              <a:spAutoFit/>
            </a:bodyPr>
            <a:lstStyle/>
            <a:p>
              <a:pPr algn="ctr"/>
              <a:r>
                <a:rPr lang="en-US" sz="2000" b="1">
                  <a:solidFill>
                    <a:schemeClr val="hlink"/>
                  </a:solidFill>
                  <a:latin typeface="Verdana" pitchFamily="34" charset="0"/>
                </a:rPr>
                <a:t>Variables</a:t>
              </a:r>
            </a:p>
          </p:txBody>
        </p:sp>
        <p:sp>
          <p:nvSpPr>
            <p:cNvPr id="30727" name="Text Box 7"/>
            <p:cNvSpPr txBox="1">
              <a:spLocks noChangeArrowheads="1"/>
            </p:cNvSpPr>
            <p:nvPr/>
          </p:nvSpPr>
          <p:spPr bwMode="auto">
            <a:xfrm>
              <a:off x="864" y="2496"/>
              <a:ext cx="878" cy="25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Ctr="1">
              <a:spAutoFit/>
            </a:bodyPr>
            <a:lstStyle/>
            <a:p>
              <a:pPr algn="ctr"/>
              <a:r>
                <a:rPr lang="en-US" sz="2000" b="1">
                  <a:solidFill>
                    <a:schemeClr val="hlink"/>
                  </a:solidFill>
                  <a:latin typeface="Verdana" pitchFamily="34" charset="0"/>
                </a:rPr>
                <a:t>Methods</a:t>
              </a:r>
            </a:p>
          </p:txBody>
        </p:sp>
        <p:sp>
          <p:nvSpPr>
            <p:cNvPr id="30730" name="Rectangle 10"/>
            <p:cNvSpPr>
              <a:spLocks noChangeArrowheads="1"/>
            </p:cNvSpPr>
            <p:nvPr/>
          </p:nvSpPr>
          <p:spPr bwMode="auto">
            <a:xfrm>
              <a:off x="1776" y="1344"/>
              <a:ext cx="1776" cy="86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 sz="2000" b="1">
                <a:solidFill>
                  <a:srgbClr val="FF0000"/>
                </a:solidFill>
                <a:latin typeface="Verdana" pitchFamily="34" charset="0"/>
              </a:endParaRPr>
            </a:p>
          </p:txBody>
        </p:sp>
        <p:sp>
          <p:nvSpPr>
            <p:cNvPr id="30738" name="Rectangle 18"/>
            <p:cNvSpPr>
              <a:spLocks noChangeArrowheads="1"/>
            </p:cNvSpPr>
            <p:nvPr/>
          </p:nvSpPr>
          <p:spPr bwMode="auto">
            <a:xfrm>
              <a:off x="3552" y="1344"/>
              <a:ext cx="1776" cy="86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 sz="2000" b="1">
                <a:solidFill>
                  <a:srgbClr val="FF0000"/>
                </a:solidFill>
                <a:latin typeface="Verdana" pitchFamily="34" charset="0"/>
              </a:endParaRPr>
            </a:p>
          </p:txBody>
        </p:sp>
        <p:sp>
          <p:nvSpPr>
            <p:cNvPr id="30739" name="Rectangle 19"/>
            <p:cNvSpPr>
              <a:spLocks noChangeArrowheads="1"/>
            </p:cNvSpPr>
            <p:nvPr/>
          </p:nvSpPr>
          <p:spPr bwMode="auto">
            <a:xfrm>
              <a:off x="1776" y="2208"/>
              <a:ext cx="1776" cy="86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 sz="2000" b="1">
                <a:solidFill>
                  <a:srgbClr val="FF0000"/>
                </a:solidFill>
                <a:latin typeface="Verdana" pitchFamily="34" charset="0"/>
              </a:endParaRPr>
            </a:p>
          </p:txBody>
        </p:sp>
        <p:sp>
          <p:nvSpPr>
            <p:cNvPr id="30740" name="Rectangle 20"/>
            <p:cNvSpPr>
              <a:spLocks noChangeArrowheads="1"/>
            </p:cNvSpPr>
            <p:nvPr/>
          </p:nvSpPr>
          <p:spPr bwMode="auto">
            <a:xfrm>
              <a:off x="3552" y="2208"/>
              <a:ext cx="1776" cy="86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 sz="2000" b="1">
                <a:solidFill>
                  <a:srgbClr val="FF0000"/>
                </a:solidFill>
                <a:latin typeface="Verdana" pitchFamily="34" charset="0"/>
              </a:endParaRPr>
            </a:p>
          </p:txBody>
        </p:sp>
      </p:grp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2925763" y="3779838"/>
            <a:ext cx="26324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charset="0"/>
              </a:rPr>
              <a:t>Provide services</a:t>
            </a:r>
          </a:p>
          <a:p>
            <a:pPr algn="ctr"/>
            <a:r>
              <a:rPr lang="en-US" b="1" dirty="0">
                <a:solidFill>
                  <a:srgbClr val="7030A0"/>
                </a:solidFill>
                <a:latin typeface="Arial" charset="0"/>
              </a:rPr>
              <a:t>to clients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5867400" y="3597275"/>
            <a:ext cx="237116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charset="0"/>
              </a:rPr>
              <a:t>Support other</a:t>
            </a:r>
          </a:p>
          <a:p>
            <a:pPr algn="ctr"/>
            <a:r>
              <a:rPr lang="en-US" b="1" dirty="0">
                <a:solidFill>
                  <a:srgbClr val="7030A0"/>
                </a:solidFill>
                <a:latin typeface="Arial" charset="0"/>
              </a:rPr>
              <a:t>methods in the</a:t>
            </a:r>
          </a:p>
          <a:p>
            <a:pPr algn="ctr"/>
            <a:r>
              <a:rPr lang="en-US" b="1" dirty="0">
                <a:solidFill>
                  <a:srgbClr val="7030A0"/>
                </a:solidFill>
                <a:latin typeface="Arial" charset="0"/>
              </a:rPr>
              <a:t>class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5932488" y="2408238"/>
            <a:ext cx="225254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charset="0"/>
              </a:rPr>
              <a:t>Enforce</a:t>
            </a:r>
          </a:p>
          <a:p>
            <a:pPr algn="ctr"/>
            <a:r>
              <a:rPr lang="en-US" b="1" dirty="0">
                <a:solidFill>
                  <a:srgbClr val="7030A0"/>
                </a:solidFill>
                <a:latin typeface="Arial" charset="0"/>
              </a:rPr>
              <a:t>encapsulation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3113088" y="2408238"/>
            <a:ext cx="22320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Arial" charset="0"/>
              </a:rPr>
              <a:t>Violate</a:t>
            </a:r>
          </a:p>
          <a:p>
            <a:pPr algn="ctr"/>
            <a:r>
              <a:rPr lang="en-US" b="1">
                <a:solidFill>
                  <a:srgbClr val="FF0000"/>
                </a:solidFill>
                <a:latin typeface="Arial" charset="0"/>
              </a:rPr>
              <a:t>encapsulation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6" grpId="0" autoUpdateAnimBg="0"/>
      <p:bldP spid="30737" grpId="0" autoUpdateAnimBg="0"/>
      <p:bldP spid="30734" grpId="0" autoUpdateAnimBg="0"/>
      <p:bldP spid="30735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Accessors and Mutators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70000"/>
              </a:spcBef>
            </a:pPr>
            <a:r>
              <a:rPr lang="en-US"/>
              <a:t>Because instance data is private, a class usually provides services to access and modify data values</a:t>
            </a:r>
          </a:p>
          <a:p>
            <a:pPr>
              <a:spcBef>
                <a:spcPct val="70000"/>
              </a:spcBef>
            </a:pPr>
            <a:r>
              <a:rPr lang="en-US"/>
              <a:t>An </a:t>
            </a:r>
            <a:r>
              <a:rPr lang="en-US" i="1"/>
              <a:t>accessor method</a:t>
            </a:r>
            <a:r>
              <a:rPr lang="en-US"/>
              <a:t> returns the current value of a variable</a:t>
            </a:r>
          </a:p>
          <a:p>
            <a:pPr>
              <a:spcBef>
                <a:spcPct val="70000"/>
              </a:spcBef>
            </a:pPr>
            <a:r>
              <a:rPr lang="en-US"/>
              <a:t>A </a:t>
            </a:r>
            <a:r>
              <a:rPr lang="en-US" i="1"/>
              <a:t>mutator method</a:t>
            </a:r>
            <a:r>
              <a:rPr lang="en-US"/>
              <a:t> changes the value of a variable</a:t>
            </a:r>
          </a:p>
          <a:p>
            <a:pPr>
              <a:spcBef>
                <a:spcPct val="70000"/>
              </a:spcBef>
            </a:pPr>
            <a:r>
              <a:rPr lang="en-US"/>
              <a:t>The names of accessor and mutator methods take the form </a:t>
            </a:r>
            <a:r>
              <a:rPr lang="en-US">
                <a:latin typeface="Courier New" pitchFamily="49" charset="0"/>
              </a:rPr>
              <a:t>getX</a:t>
            </a:r>
            <a:r>
              <a:rPr lang="en-US"/>
              <a:t> and </a:t>
            </a:r>
            <a:r>
              <a:rPr lang="en-US">
                <a:latin typeface="Courier New" pitchFamily="49" charset="0"/>
              </a:rPr>
              <a:t>setX</a:t>
            </a:r>
            <a:r>
              <a:rPr lang="en-US"/>
              <a:t>, respectively, where </a:t>
            </a:r>
            <a:r>
              <a:rPr lang="en-US">
                <a:latin typeface="Courier New" pitchFamily="49" charset="0"/>
              </a:rPr>
              <a:t>X</a:t>
            </a:r>
            <a:r>
              <a:rPr lang="en-US"/>
              <a:t> is the name of the value</a:t>
            </a:r>
          </a:p>
          <a:p>
            <a:pPr>
              <a:spcBef>
                <a:spcPct val="70000"/>
              </a:spcBef>
            </a:pPr>
            <a:r>
              <a:rPr lang="en-US"/>
              <a:t>They are sometimes called “getters” and “setters”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Mutator Restrictions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70000"/>
              </a:spcBef>
            </a:pPr>
            <a:r>
              <a:rPr lang="en-US" dirty="0"/>
              <a:t>The use of </a:t>
            </a:r>
            <a:r>
              <a:rPr lang="en-US" dirty="0" err="1"/>
              <a:t>mutators</a:t>
            </a:r>
            <a:r>
              <a:rPr lang="en-US" dirty="0"/>
              <a:t> gives the class designer the ability to restrict a client’s options to modify an object’s state</a:t>
            </a:r>
          </a:p>
          <a:p>
            <a:pPr>
              <a:spcBef>
                <a:spcPct val="70000"/>
              </a:spcBef>
            </a:pPr>
            <a:r>
              <a:rPr lang="en-US" dirty="0"/>
              <a:t>A </a:t>
            </a:r>
            <a:r>
              <a:rPr lang="en-US" dirty="0" err="1"/>
              <a:t>mutator</a:t>
            </a:r>
            <a:r>
              <a:rPr lang="en-US" dirty="0"/>
              <a:t> is often designed so that the values of variables can be set only within particular limits</a:t>
            </a:r>
          </a:p>
          <a:p>
            <a:pPr>
              <a:spcBef>
                <a:spcPct val="70000"/>
              </a:spcBef>
            </a:pPr>
            <a:r>
              <a:rPr lang="en-US" dirty="0"/>
              <a:t>For example, the </a:t>
            </a:r>
            <a:r>
              <a:rPr lang="en-US" dirty="0" err="1">
                <a:latin typeface="Courier New" pitchFamily="49" charset="0"/>
              </a:rPr>
              <a:t>setFaceValue</a:t>
            </a:r>
            <a:r>
              <a:rPr lang="en-US" dirty="0"/>
              <a:t> </a:t>
            </a:r>
            <a:r>
              <a:rPr lang="en-US" dirty="0" err="1"/>
              <a:t>mutator</a:t>
            </a:r>
            <a:r>
              <a:rPr lang="en-US" dirty="0"/>
              <a:t> of the </a:t>
            </a:r>
            <a:r>
              <a:rPr lang="en-US" dirty="0">
                <a:latin typeface="Courier New" pitchFamily="49" charset="0"/>
              </a:rPr>
              <a:t>dice</a:t>
            </a:r>
            <a:r>
              <a:rPr lang="en-US" dirty="0"/>
              <a:t> class restricts the value to the valid range (1 to </a:t>
            </a:r>
            <a:r>
              <a:rPr lang="en-US" dirty="0" err="1">
                <a:latin typeface="Courier New" pitchFamily="49" charset="0"/>
              </a:rPr>
              <a:t>numFaces</a:t>
            </a:r>
            <a:r>
              <a:rPr lang="en-US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Declarations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75000"/>
              </a:spcBef>
            </a:pPr>
            <a:r>
              <a:rPr lang="en-US"/>
              <a:t>Let’s now examine method declarations in more detail</a:t>
            </a:r>
          </a:p>
          <a:p>
            <a:pPr>
              <a:spcBef>
                <a:spcPct val="75000"/>
              </a:spcBef>
            </a:pPr>
            <a:r>
              <a:rPr lang="en-US"/>
              <a:t>A </a:t>
            </a:r>
            <a:r>
              <a:rPr lang="en-US" i="1"/>
              <a:t>method declaration</a:t>
            </a:r>
            <a:r>
              <a:rPr lang="en-US"/>
              <a:t> specifies the code that will be executed when the method is invoked (called)</a:t>
            </a:r>
          </a:p>
          <a:p>
            <a:pPr>
              <a:spcBef>
                <a:spcPct val="75000"/>
              </a:spcBef>
            </a:pPr>
            <a:r>
              <a:rPr lang="en-US"/>
              <a:t>When a method is invoked, the flow of control jumps to the method and executes its code</a:t>
            </a:r>
          </a:p>
          <a:p>
            <a:pPr>
              <a:spcBef>
                <a:spcPct val="75000"/>
              </a:spcBef>
            </a:pPr>
            <a:r>
              <a:rPr lang="en-US"/>
              <a:t>When complete, the flow returns to the place where the method was called and continues</a:t>
            </a:r>
          </a:p>
          <a:p>
            <a:pPr>
              <a:spcBef>
                <a:spcPct val="75000"/>
              </a:spcBef>
            </a:pPr>
            <a:r>
              <a:rPr lang="en-US"/>
              <a:t>The invocation may or may not return a value, depending on how the method is defined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752600" y="2209800"/>
            <a:ext cx="6019800" cy="3581400"/>
            <a:chOff x="960" y="1296"/>
            <a:chExt cx="3792" cy="2256"/>
          </a:xfrm>
        </p:grpSpPr>
        <p:sp>
          <p:nvSpPr>
            <p:cNvPr id="33795" name="AutoShape 3"/>
            <p:cNvSpPr>
              <a:spLocks noChangeArrowheads="1"/>
            </p:cNvSpPr>
            <p:nvPr/>
          </p:nvSpPr>
          <p:spPr bwMode="auto">
            <a:xfrm>
              <a:off x="960" y="1296"/>
              <a:ext cx="3792" cy="2256"/>
            </a:xfrm>
            <a:prstGeom prst="flowChartAlternateProcess">
              <a:avLst/>
            </a:prstGeom>
            <a:solidFill>
              <a:srgbClr val="CCFFFF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3796" name="Rectangle 4"/>
            <p:cNvSpPr>
              <a:spLocks noChangeArrowheads="1"/>
            </p:cNvSpPr>
            <p:nvPr/>
          </p:nvSpPr>
          <p:spPr bwMode="auto">
            <a:xfrm>
              <a:off x="1440" y="1776"/>
              <a:ext cx="1008" cy="14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3797" name="Rectangle 5"/>
            <p:cNvSpPr>
              <a:spLocks noChangeArrowheads="1"/>
            </p:cNvSpPr>
            <p:nvPr/>
          </p:nvSpPr>
          <p:spPr bwMode="auto">
            <a:xfrm>
              <a:off x="3168" y="1776"/>
              <a:ext cx="1008" cy="11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3798" name="Text Box 6"/>
            <p:cNvSpPr txBox="1">
              <a:spLocks noChangeArrowheads="1"/>
            </p:cNvSpPr>
            <p:nvPr/>
          </p:nvSpPr>
          <p:spPr bwMode="auto">
            <a:xfrm>
              <a:off x="1462" y="2304"/>
              <a:ext cx="963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</a:rPr>
                <a:t>myMethod();</a:t>
              </a:r>
            </a:p>
          </p:txBody>
        </p:sp>
        <p:sp>
          <p:nvSpPr>
            <p:cNvPr id="33799" name="Text Box 7"/>
            <p:cNvSpPr txBox="1">
              <a:spLocks noChangeArrowheads="1"/>
            </p:cNvSpPr>
            <p:nvPr/>
          </p:nvSpPr>
          <p:spPr bwMode="auto">
            <a:xfrm>
              <a:off x="3300" y="1536"/>
              <a:ext cx="732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</a:rPr>
                <a:t>myMethod</a:t>
              </a:r>
              <a:endParaRPr lang="en-US" sz="1600" b="1">
                <a:solidFill>
                  <a:schemeClr val="bg2"/>
                </a:solidFill>
                <a:latin typeface="Courier New" pitchFamily="49" charset="0"/>
              </a:endParaRPr>
            </a:p>
          </p:txBody>
        </p:sp>
        <p:sp>
          <p:nvSpPr>
            <p:cNvPr id="33800" name="Text Box 8"/>
            <p:cNvSpPr txBox="1">
              <a:spLocks noChangeArrowheads="1"/>
            </p:cNvSpPr>
            <p:nvPr/>
          </p:nvSpPr>
          <p:spPr bwMode="auto">
            <a:xfrm>
              <a:off x="1623" y="1536"/>
              <a:ext cx="655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</a:rPr>
                <a:t>compute</a:t>
              </a:r>
              <a:endParaRPr lang="en-US" sz="1600" b="1">
                <a:solidFill>
                  <a:schemeClr val="bg2"/>
                </a:solidFill>
                <a:latin typeface="Courier New" pitchFamily="49" charset="0"/>
              </a:endParaRPr>
            </a:p>
          </p:txBody>
        </p:sp>
        <p:sp>
          <p:nvSpPr>
            <p:cNvPr id="33801" name="Text Box 9"/>
            <p:cNvSpPr txBox="1">
              <a:spLocks noChangeArrowheads="1"/>
            </p:cNvSpPr>
            <p:nvPr/>
          </p:nvSpPr>
          <p:spPr bwMode="auto">
            <a:xfrm>
              <a:off x="3602" y="1776"/>
              <a:ext cx="156" cy="1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000">
                  <a:latin typeface="Times New Roman" pitchFamily="18" charset="0"/>
                </a:rPr>
                <a:t>  </a:t>
              </a:r>
            </a:p>
          </p:txBody>
        </p:sp>
        <p:sp>
          <p:nvSpPr>
            <p:cNvPr id="33802" name="Text Box 10"/>
            <p:cNvSpPr txBox="1">
              <a:spLocks noChangeArrowheads="1"/>
            </p:cNvSpPr>
            <p:nvPr/>
          </p:nvSpPr>
          <p:spPr bwMode="auto">
            <a:xfrm>
              <a:off x="3552" y="2784"/>
              <a:ext cx="256" cy="1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000">
                  <a:latin typeface="Times New Roman" pitchFamily="18" charset="0"/>
                </a:rPr>
                <a:t>       </a:t>
              </a:r>
            </a:p>
          </p:txBody>
        </p:sp>
        <p:sp>
          <p:nvSpPr>
            <p:cNvPr id="33803" name="Text Box 11"/>
            <p:cNvSpPr txBox="1">
              <a:spLocks noChangeArrowheads="1"/>
            </p:cNvSpPr>
            <p:nvPr/>
          </p:nvSpPr>
          <p:spPr bwMode="auto">
            <a:xfrm>
              <a:off x="1866" y="2496"/>
              <a:ext cx="156" cy="1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000">
                  <a:latin typeface="Times New Roman" pitchFamily="18" charset="0"/>
                </a:rPr>
                <a:t>  </a:t>
              </a:r>
            </a:p>
          </p:txBody>
        </p:sp>
      </p:grpSp>
      <p:sp>
        <p:nvSpPr>
          <p:cNvPr id="33804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Control Flow</a:t>
            </a:r>
          </a:p>
        </p:txBody>
      </p:sp>
      <p:sp>
        <p:nvSpPr>
          <p:cNvPr id="33805" name="Rectangle 1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8001000" cy="790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If the called method is in the same class, only the method name is needed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cxnSp>
        <p:nvCxnSpPr>
          <p:cNvPr id="33806" name="AutoShape 14"/>
          <p:cNvCxnSpPr>
            <a:cxnSpLocks noChangeShapeType="1"/>
            <a:stCxn id="33796" idx="0"/>
            <a:endCxn id="33798" idx="0"/>
          </p:cNvCxnSpPr>
          <p:nvPr/>
        </p:nvCxnSpPr>
        <p:spPr bwMode="auto">
          <a:xfrm>
            <a:off x="3314700" y="2971800"/>
            <a:ext cx="0" cy="838200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33807" name="AutoShape 15"/>
          <p:cNvCxnSpPr>
            <a:cxnSpLocks noChangeShapeType="1"/>
            <a:endCxn id="33796" idx="2"/>
          </p:cNvCxnSpPr>
          <p:nvPr/>
        </p:nvCxnSpPr>
        <p:spPr bwMode="auto">
          <a:xfrm>
            <a:off x="3314700" y="4435475"/>
            <a:ext cx="0" cy="898525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33808" name="AutoShape 16"/>
          <p:cNvCxnSpPr>
            <a:cxnSpLocks noChangeShapeType="1"/>
            <a:stCxn id="33798" idx="3"/>
            <a:endCxn id="33801" idx="1"/>
          </p:cNvCxnSpPr>
          <p:nvPr/>
        </p:nvCxnSpPr>
        <p:spPr bwMode="auto">
          <a:xfrm flipV="1">
            <a:off x="4078288" y="3094038"/>
            <a:ext cx="1868487" cy="884237"/>
          </a:xfrm>
          <a:prstGeom prst="bentConnector3">
            <a:avLst>
              <a:gd name="adj1" fmla="val 49958"/>
            </a:avLst>
          </a:prstGeom>
          <a:noFill/>
          <a:ln w="31750">
            <a:solidFill>
              <a:srgbClr val="FF0000"/>
            </a:solidFill>
            <a:miter lim="800000"/>
            <a:headEnd type="none" w="sm" len="sm"/>
            <a:tailEnd type="triangle" w="med" len="med"/>
          </a:ln>
          <a:effectLst/>
        </p:spPr>
      </p:cxnSp>
      <p:cxnSp>
        <p:nvCxnSpPr>
          <p:cNvPr id="33809" name="AutoShape 17"/>
          <p:cNvCxnSpPr>
            <a:cxnSpLocks noChangeShapeType="1"/>
            <a:stCxn id="33801" idx="2"/>
            <a:endCxn id="33802" idx="0"/>
          </p:cNvCxnSpPr>
          <p:nvPr/>
        </p:nvCxnSpPr>
        <p:spPr bwMode="auto">
          <a:xfrm>
            <a:off x="6070600" y="3216275"/>
            <a:ext cx="0" cy="1355725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33810" name="AutoShape 18"/>
          <p:cNvCxnSpPr>
            <a:cxnSpLocks noChangeShapeType="1"/>
          </p:cNvCxnSpPr>
          <p:nvPr/>
        </p:nvCxnSpPr>
        <p:spPr bwMode="auto">
          <a:xfrm rot="10800000">
            <a:off x="3429000" y="4267200"/>
            <a:ext cx="2413000" cy="381000"/>
          </a:xfrm>
          <a:prstGeom prst="bentConnector3">
            <a:avLst>
              <a:gd name="adj1" fmla="val 44407"/>
            </a:avLst>
          </a:prstGeom>
          <a:noFill/>
          <a:ln w="31750">
            <a:solidFill>
              <a:srgbClr val="FF0000"/>
            </a:solidFill>
            <a:miter lim="800000"/>
            <a:headEnd type="none" w="sm" len="sm"/>
            <a:tailEnd type="triangl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038600" y="2209800"/>
            <a:ext cx="4572000" cy="3352800"/>
            <a:chOff x="2304" y="1392"/>
            <a:chExt cx="2880" cy="2112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304" y="1392"/>
              <a:ext cx="2880" cy="2112"/>
              <a:chOff x="2304" y="1392"/>
              <a:chExt cx="2880" cy="2112"/>
            </a:xfrm>
          </p:grpSpPr>
          <p:sp>
            <p:nvSpPr>
              <p:cNvPr id="34820" name="AutoShape 4"/>
              <p:cNvSpPr>
                <a:spLocks noChangeArrowheads="1"/>
              </p:cNvSpPr>
              <p:nvPr/>
            </p:nvSpPr>
            <p:spPr bwMode="auto">
              <a:xfrm>
                <a:off x="2304" y="1392"/>
                <a:ext cx="2880" cy="2112"/>
              </a:xfrm>
              <a:prstGeom prst="flowChartAlternateProcess">
                <a:avLst/>
              </a:prstGeom>
              <a:solidFill>
                <a:srgbClr val="CCFFFF"/>
              </a:solidFill>
              <a:ln w="12700">
                <a:solidFill>
                  <a:schemeClr val="bg2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4821" name="Text Box 5"/>
              <p:cNvSpPr txBox="1">
                <a:spLocks noChangeArrowheads="1"/>
              </p:cNvSpPr>
              <p:nvPr/>
            </p:nvSpPr>
            <p:spPr bwMode="auto">
              <a:xfrm>
                <a:off x="2891" y="1632"/>
                <a:ext cx="424" cy="21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</a:rPr>
                  <a:t>doIt</a:t>
                </a:r>
                <a:endParaRPr lang="en-US" sz="1600" b="1">
                  <a:solidFill>
                    <a:schemeClr val="bg2"/>
                  </a:solidFill>
                  <a:latin typeface="Courier New" pitchFamily="49" charset="0"/>
                </a:endParaRPr>
              </a:p>
            </p:txBody>
          </p:sp>
          <p:sp>
            <p:nvSpPr>
              <p:cNvPr id="34822" name="Rectangle 6"/>
              <p:cNvSpPr>
                <a:spLocks noChangeArrowheads="1"/>
              </p:cNvSpPr>
              <p:nvPr/>
            </p:nvSpPr>
            <p:spPr bwMode="auto">
              <a:xfrm>
                <a:off x="2592" y="1872"/>
                <a:ext cx="1008" cy="134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4823" name="Rectangle 7"/>
              <p:cNvSpPr>
                <a:spLocks noChangeArrowheads="1"/>
              </p:cNvSpPr>
              <p:nvPr/>
            </p:nvSpPr>
            <p:spPr bwMode="auto">
              <a:xfrm>
                <a:off x="3936" y="1872"/>
                <a:ext cx="1008" cy="100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4824" name="Text Box 8"/>
              <p:cNvSpPr txBox="1">
                <a:spLocks noChangeArrowheads="1"/>
              </p:cNvSpPr>
              <p:nvPr/>
            </p:nvSpPr>
            <p:spPr bwMode="auto">
              <a:xfrm>
                <a:off x="3018" y="1872"/>
                <a:ext cx="156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000">
                    <a:latin typeface="Times New Roman" pitchFamily="18" charset="0"/>
                  </a:rPr>
                  <a:t>  </a:t>
                </a:r>
              </a:p>
            </p:txBody>
          </p:sp>
          <p:sp>
            <p:nvSpPr>
              <p:cNvPr id="34825" name="Text Box 9"/>
              <p:cNvSpPr txBox="1">
                <a:spLocks noChangeArrowheads="1"/>
              </p:cNvSpPr>
              <p:nvPr/>
            </p:nvSpPr>
            <p:spPr bwMode="auto">
              <a:xfrm>
                <a:off x="3028" y="3072"/>
                <a:ext cx="136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000">
                    <a:latin typeface="Times New Roman" pitchFamily="18" charset="0"/>
                  </a:rPr>
                  <a:t> </a:t>
                </a:r>
              </a:p>
            </p:txBody>
          </p:sp>
          <p:sp>
            <p:nvSpPr>
              <p:cNvPr id="34826" name="Text Box 10"/>
              <p:cNvSpPr txBox="1">
                <a:spLocks noChangeArrowheads="1"/>
              </p:cNvSpPr>
              <p:nvPr/>
            </p:nvSpPr>
            <p:spPr bwMode="auto">
              <a:xfrm>
                <a:off x="4149" y="1632"/>
                <a:ext cx="578" cy="21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</a:rPr>
                  <a:t>helpMe</a:t>
                </a:r>
                <a:endParaRPr lang="en-US" sz="1600" b="1">
                  <a:solidFill>
                    <a:schemeClr val="bg2"/>
                  </a:solidFill>
                  <a:latin typeface="Courier New" pitchFamily="49" charset="0"/>
                </a:endParaRPr>
              </a:p>
            </p:txBody>
          </p:sp>
          <p:sp>
            <p:nvSpPr>
              <p:cNvPr id="34827" name="Text Box 11"/>
              <p:cNvSpPr txBox="1">
                <a:spLocks noChangeArrowheads="1"/>
              </p:cNvSpPr>
              <p:nvPr/>
            </p:nvSpPr>
            <p:spPr bwMode="auto">
              <a:xfrm>
                <a:off x="2691" y="2352"/>
                <a:ext cx="809" cy="21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</a:rPr>
                  <a:t>helpMe();</a:t>
                </a:r>
              </a:p>
            </p:txBody>
          </p:sp>
          <p:sp>
            <p:nvSpPr>
              <p:cNvPr id="34828" name="Text Box 12"/>
              <p:cNvSpPr txBox="1">
                <a:spLocks noChangeArrowheads="1"/>
              </p:cNvSpPr>
              <p:nvPr/>
            </p:nvSpPr>
            <p:spPr bwMode="auto">
              <a:xfrm>
                <a:off x="4372" y="2736"/>
                <a:ext cx="136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000">
                    <a:latin typeface="Times New Roman" pitchFamily="18" charset="0"/>
                  </a:rPr>
                  <a:t> </a:t>
                </a:r>
              </a:p>
            </p:txBody>
          </p:sp>
          <p:sp>
            <p:nvSpPr>
              <p:cNvPr id="34829" name="Text Box 13"/>
              <p:cNvSpPr txBox="1">
                <a:spLocks noChangeArrowheads="1"/>
              </p:cNvSpPr>
              <p:nvPr/>
            </p:nvSpPr>
            <p:spPr bwMode="auto">
              <a:xfrm>
                <a:off x="4362" y="1872"/>
                <a:ext cx="156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000">
                    <a:latin typeface="Times New Roman" pitchFamily="18" charset="0"/>
                  </a:rPr>
                  <a:t>  </a:t>
                </a:r>
              </a:p>
            </p:txBody>
          </p:sp>
        </p:grpSp>
        <p:sp>
          <p:nvSpPr>
            <p:cNvPr id="34830" name="Text Box 14"/>
            <p:cNvSpPr txBox="1">
              <a:spLocks noChangeArrowheads="1"/>
            </p:cNvSpPr>
            <p:nvPr/>
          </p:nvSpPr>
          <p:spPr bwMode="auto">
            <a:xfrm>
              <a:off x="3028" y="2544"/>
              <a:ext cx="136" cy="1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000">
                  <a:latin typeface="Times New Roman" pitchFamily="18" charset="0"/>
                </a:rPr>
                <a:t> 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1371600" y="2209800"/>
            <a:ext cx="2362200" cy="3657600"/>
            <a:chOff x="816" y="1296"/>
            <a:chExt cx="1488" cy="2304"/>
          </a:xfrm>
        </p:grpSpPr>
        <p:sp>
          <p:nvSpPr>
            <p:cNvPr id="34832" name="AutoShape 16"/>
            <p:cNvSpPr>
              <a:spLocks noChangeArrowheads="1"/>
            </p:cNvSpPr>
            <p:nvPr/>
          </p:nvSpPr>
          <p:spPr bwMode="auto">
            <a:xfrm>
              <a:off x="816" y="1296"/>
              <a:ext cx="1488" cy="2304"/>
            </a:xfrm>
            <a:prstGeom prst="flowChartAlternateProcess">
              <a:avLst/>
            </a:prstGeom>
            <a:solidFill>
              <a:srgbClr val="CCFFFF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4833" name="Rectangle 17"/>
            <p:cNvSpPr>
              <a:spLocks noChangeArrowheads="1"/>
            </p:cNvSpPr>
            <p:nvPr/>
          </p:nvSpPr>
          <p:spPr bwMode="auto">
            <a:xfrm>
              <a:off x="1059" y="1776"/>
              <a:ext cx="1008" cy="14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4834" name="Text Box 18"/>
            <p:cNvSpPr txBox="1">
              <a:spLocks noChangeArrowheads="1"/>
            </p:cNvSpPr>
            <p:nvPr/>
          </p:nvSpPr>
          <p:spPr bwMode="auto">
            <a:xfrm>
              <a:off x="1082" y="2304"/>
              <a:ext cx="963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</a:rPr>
                <a:t>obj.doIt();</a:t>
              </a:r>
            </a:p>
          </p:txBody>
        </p:sp>
        <p:sp>
          <p:nvSpPr>
            <p:cNvPr id="34835" name="Text Box 19"/>
            <p:cNvSpPr txBox="1">
              <a:spLocks noChangeArrowheads="1"/>
            </p:cNvSpPr>
            <p:nvPr/>
          </p:nvSpPr>
          <p:spPr bwMode="auto">
            <a:xfrm>
              <a:off x="1392" y="1536"/>
              <a:ext cx="424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</a:rPr>
                <a:t>main</a:t>
              </a:r>
              <a:endParaRPr lang="en-US" sz="1600" b="1">
                <a:solidFill>
                  <a:schemeClr val="bg2"/>
                </a:solidFill>
                <a:latin typeface="Courier New" pitchFamily="49" charset="0"/>
              </a:endParaRPr>
            </a:p>
          </p:txBody>
        </p:sp>
        <p:sp>
          <p:nvSpPr>
            <p:cNvPr id="34836" name="Text Box 20"/>
            <p:cNvSpPr txBox="1">
              <a:spLocks noChangeArrowheads="1"/>
            </p:cNvSpPr>
            <p:nvPr/>
          </p:nvSpPr>
          <p:spPr bwMode="auto">
            <a:xfrm>
              <a:off x="1495" y="2496"/>
              <a:ext cx="136" cy="1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00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34837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Control Flow</a:t>
            </a:r>
          </a:p>
        </p:txBody>
      </p:sp>
      <p:sp>
        <p:nvSpPr>
          <p:cNvPr id="34838" name="Rectangle 22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7985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 called method is often part of another class or object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cxnSp>
        <p:nvCxnSpPr>
          <p:cNvPr id="34839" name="AutoShape 23"/>
          <p:cNvCxnSpPr>
            <a:cxnSpLocks noChangeShapeType="1"/>
            <a:stCxn id="34833" idx="0"/>
            <a:endCxn id="34834" idx="0"/>
          </p:cNvCxnSpPr>
          <p:nvPr/>
        </p:nvCxnSpPr>
        <p:spPr bwMode="auto">
          <a:xfrm>
            <a:off x="2557463" y="2971800"/>
            <a:ext cx="1587" cy="838200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34840" name="AutoShape 24"/>
          <p:cNvCxnSpPr>
            <a:cxnSpLocks noChangeShapeType="1"/>
            <a:stCxn id="34836" idx="2"/>
            <a:endCxn id="34833" idx="2"/>
          </p:cNvCxnSpPr>
          <p:nvPr/>
        </p:nvCxnSpPr>
        <p:spPr bwMode="auto">
          <a:xfrm>
            <a:off x="2557463" y="4359275"/>
            <a:ext cx="0" cy="974725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34841" name="AutoShape 25"/>
          <p:cNvCxnSpPr>
            <a:cxnSpLocks noChangeShapeType="1"/>
            <a:stCxn id="34825" idx="1"/>
            <a:endCxn id="34836" idx="3"/>
          </p:cNvCxnSpPr>
          <p:nvPr/>
        </p:nvCxnSpPr>
        <p:spPr bwMode="auto">
          <a:xfrm rot="10800000">
            <a:off x="2665413" y="4237038"/>
            <a:ext cx="2522537" cy="762000"/>
          </a:xfrm>
          <a:prstGeom prst="bentConnector3">
            <a:avLst>
              <a:gd name="adj1" fmla="val 49968"/>
            </a:avLst>
          </a:prstGeom>
          <a:noFill/>
          <a:ln w="31750">
            <a:solidFill>
              <a:srgbClr val="FF0000"/>
            </a:solidFill>
            <a:miter lim="800000"/>
            <a:headEnd type="none" w="sm" len="sm"/>
            <a:tailEnd type="triangle" w="med" len="med"/>
          </a:ln>
          <a:effectLst/>
        </p:spPr>
      </p:cxnSp>
      <p:cxnSp>
        <p:nvCxnSpPr>
          <p:cNvPr id="34842" name="AutoShape 26"/>
          <p:cNvCxnSpPr>
            <a:cxnSpLocks noChangeShapeType="1"/>
            <a:stCxn id="34829" idx="2"/>
            <a:endCxn id="34828" idx="0"/>
          </p:cNvCxnSpPr>
          <p:nvPr/>
        </p:nvCxnSpPr>
        <p:spPr bwMode="auto">
          <a:xfrm>
            <a:off x="7429500" y="3216275"/>
            <a:ext cx="0" cy="1127125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34843" name="AutoShape 27"/>
          <p:cNvCxnSpPr>
            <a:cxnSpLocks noChangeShapeType="1"/>
            <a:stCxn id="34824" idx="2"/>
            <a:endCxn id="34827" idx="0"/>
          </p:cNvCxnSpPr>
          <p:nvPr/>
        </p:nvCxnSpPr>
        <p:spPr bwMode="auto">
          <a:xfrm>
            <a:off x="5295900" y="3216275"/>
            <a:ext cx="0" cy="517525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34844" name="AutoShape 28"/>
          <p:cNvCxnSpPr>
            <a:cxnSpLocks noChangeShapeType="1"/>
            <a:stCxn id="34830" idx="2"/>
            <a:endCxn id="34825" idx="0"/>
          </p:cNvCxnSpPr>
          <p:nvPr/>
        </p:nvCxnSpPr>
        <p:spPr bwMode="auto">
          <a:xfrm>
            <a:off x="5295900" y="4283075"/>
            <a:ext cx="0" cy="593725"/>
          </a:xfrm>
          <a:prstGeom prst="straightConnector1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34845" name="AutoShape 29"/>
          <p:cNvCxnSpPr>
            <a:cxnSpLocks noChangeShapeType="1"/>
            <a:stCxn id="34827" idx="3"/>
            <a:endCxn id="34829" idx="1"/>
          </p:cNvCxnSpPr>
          <p:nvPr/>
        </p:nvCxnSpPr>
        <p:spPr bwMode="auto">
          <a:xfrm flipV="1">
            <a:off x="5937250" y="3094038"/>
            <a:ext cx="1368425" cy="808037"/>
          </a:xfrm>
          <a:prstGeom prst="bentConnector3">
            <a:avLst>
              <a:gd name="adj1" fmla="val 50000"/>
            </a:avLst>
          </a:prstGeom>
          <a:noFill/>
          <a:ln w="31750">
            <a:solidFill>
              <a:srgbClr val="FF0000"/>
            </a:solidFill>
            <a:miter lim="800000"/>
            <a:headEnd type="none" w="sm" len="sm"/>
            <a:tailEnd type="triangle" w="med" len="med"/>
          </a:ln>
          <a:effectLst/>
        </p:spPr>
      </p:cxnSp>
      <p:cxnSp>
        <p:nvCxnSpPr>
          <p:cNvPr id="34846" name="AutoShape 30"/>
          <p:cNvCxnSpPr>
            <a:cxnSpLocks noChangeShapeType="1"/>
            <a:stCxn id="34824" idx="1"/>
            <a:endCxn id="34834" idx="3"/>
          </p:cNvCxnSpPr>
          <p:nvPr/>
        </p:nvCxnSpPr>
        <p:spPr bwMode="auto">
          <a:xfrm rot="10800000" flipV="1">
            <a:off x="3322638" y="3094038"/>
            <a:ext cx="1849437" cy="884237"/>
          </a:xfrm>
          <a:prstGeom prst="bentConnector3">
            <a:avLst>
              <a:gd name="adj1" fmla="val 49958"/>
            </a:avLst>
          </a:prstGeom>
          <a:noFill/>
          <a:ln w="31750">
            <a:solidFill>
              <a:srgbClr val="FF0000"/>
            </a:solidFill>
            <a:miter lim="800000"/>
            <a:headEnd type="triangle" w="med" len="med"/>
            <a:tailEnd/>
          </a:ln>
          <a:effectLst/>
        </p:spPr>
      </p:cxnSp>
      <p:cxnSp>
        <p:nvCxnSpPr>
          <p:cNvPr id="34847" name="AutoShape 31"/>
          <p:cNvCxnSpPr>
            <a:cxnSpLocks noChangeShapeType="1"/>
          </p:cNvCxnSpPr>
          <p:nvPr/>
        </p:nvCxnSpPr>
        <p:spPr bwMode="auto">
          <a:xfrm rot="10800000">
            <a:off x="5410200" y="4191000"/>
            <a:ext cx="1917700" cy="304800"/>
          </a:xfrm>
          <a:prstGeom prst="bentConnector3">
            <a:avLst>
              <a:gd name="adj1" fmla="val 50000"/>
            </a:avLst>
          </a:prstGeom>
          <a:noFill/>
          <a:ln w="31750">
            <a:solidFill>
              <a:srgbClr val="FF0000"/>
            </a:solidFill>
            <a:miter lim="800000"/>
            <a:headEnd type="none" w="sm" len="sm"/>
            <a:tailEnd type="triangl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Header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644525"/>
          </a:xfrm>
        </p:spPr>
        <p:txBody>
          <a:bodyPr/>
          <a:lstStyle/>
          <a:p>
            <a:r>
              <a:rPr lang="en-US"/>
              <a:t>A method declaration begins with a </a:t>
            </a:r>
            <a:r>
              <a:rPr lang="en-US" i="1"/>
              <a:t>method header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1365250" y="2286000"/>
            <a:ext cx="71945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char calc (int num1, int num2, String message)</a:t>
            </a: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1944688" y="3217863"/>
            <a:ext cx="1163637" cy="6477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method</a:t>
            </a:r>
          </a:p>
          <a:p>
            <a:pPr algn="ctr"/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name</a:t>
            </a:r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 flipV="1">
            <a:off x="2508250" y="2743200"/>
            <a:ext cx="0" cy="4572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1268413" y="4208463"/>
            <a:ext cx="996950" cy="6477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return</a:t>
            </a:r>
          </a:p>
          <a:p>
            <a:pPr algn="ctr"/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type</a:t>
            </a:r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 flipV="1">
            <a:off x="1746250" y="2743200"/>
            <a:ext cx="0" cy="14478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9" name="AutoShape 9"/>
          <p:cNvSpPr>
            <a:spLocks/>
          </p:cNvSpPr>
          <p:nvPr/>
        </p:nvSpPr>
        <p:spPr bwMode="auto">
          <a:xfrm rot="-5400000">
            <a:off x="5581650" y="533400"/>
            <a:ext cx="304800" cy="5029200"/>
          </a:xfrm>
          <a:prstGeom prst="leftBrace">
            <a:avLst>
              <a:gd name="adj1" fmla="val 137500"/>
              <a:gd name="adj2" fmla="val 50477"/>
            </a:avLst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0" name="Text Box 10"/>
          <p:cNvSpPr txBox="1">
            <a:spLocks noChangeArrowheads="1"/>
          </p:cNvSpPr>
          <p:nvPr/>
        </p:nvSpPr>
        <p:spPr bwMode="auto">
          <a:xfrm>
            <a:off x="4146550" y="3352800"/>
            <a:ext cx="3200400" cy="369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parameter list</a:t>
            </a:r>
          </a:p>
        </p:txBody>
      </p:sp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3276600" y="4132263"/>
            <a:ext cx="5326063" cy="1481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The parameter list specifies the type</a:t>
            </a:r>
          </a:p>
          <a:p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and name of each parameter</a:t>
            </a:r>
          </a:p>
          <a:p>
            <a:endParaRPr lang="en-US" sz="1800" b="1">
              <a:solidFill>
                <a:schemeClr val="hlink"/>
              </a:solidFill>
              <a:latin typeface="Verdana" pitchFamily="34" charset="0"/>
            </a:endParaRPr>
          </a:p>
          <a:p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The name of a parameter in the method</a:t>
            </a:r>
          </a:p>
          <a:p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declaration is called a </a:t>
            </a:r>
            <a:r>
              <a:rPr lang="en-US" sz="1800" b="1" i="1">
                <a:solidFill>
                  <a:schemeClr val="hlink"/>
                </a:solidFill>
                <a:latin typeface="Verdana" pitchFamily="34" charset="0"/>
              </a:rPr>
              <a:t>formal parameter</a:t>
            </a:r>
            <a:endParaRPr lang="en-US" sz="1800" b="1">
              <a:solidFill>
                <a:schemeClr val="hlink"/>
              </a:solidFill>
              <a:latin typeface="Verdan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utoUpdateAnimBg="0"/>
      <p:bldP spid="35845" grpId="0" autoUpdateAnimBg="0"/>
      <p:bldP spid="35846" grpId="0" animBg="1"/>
      <p:bldP spid="35847" grpId="0" autoUpdateAnimBg="0"/>
      <p:bldP spid="35848" grpId="0" animBg="1"/>
      <p:bldP spid="35849" grpId="0" animBg="1"/>
      <p:bldP spid="35850" grpId="0" autoUpdateAnimBg="0"/>
      <p:bldP spid="35851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Body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644525"/>
          </a:xfrm>
        </p:spPr>
        <p:txBody>
          <a:bodyPr/>
          <a:lstStyle/>
          <a:p>
            <a:r>
              <a:rPr lang="en-US"/>
              <a:t>The method header is followed by the </a:t>
            </a:r>
            <a:r>
              <a:rPr lang="en-US" i="1"/>
              <a:t>method body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1492250" y="2230438"/>
            <a:ext cx="71945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char calc (int num1, int num2, String message)</a:t>
            </a: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1514475" y="2633663"/>
            <a:ext cx="5975350" cy="1920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{</a:t>
            </a:r>
          </a:p>
          <a:p>
            <a:r>
              <a:rPr lang="en-US" sz="2000" b="1">
                <a:latin typeface="Courier New" pitchFamily="49" charset="0"/>
              </a:rPr>
              <a:t>   int sum = num1 + num2;</a:t>
            </a:r>
          </a:p>
          <a:p>
            <a:r>
              <a:rPr lang="en-US" sz="2000" b="1">
                <a:latin typeface="Courier New" pitchFamily="49" charset="0"/>
              </a:rPr>
              <a:t>   char result = message.charAt (sum);</a:t>
            </a:r>
          </a:p>
          <a:p>
            <a:endParaRPr lang="en-US" sz="2000" b="1">
              <a:latin typeface="Courier New" pitchFamily="49" charset="0"/>
            </a:endParaRPr>
          </a:p>
          <a:p>
            <a:r>
              <a:rPr lang="en-US" sz="2000" b="1">
                <a:latin typeface="Courier New" pitchFamily="49" charset="0"/>
              </a:rPr>
              <a:t>   return result;</a:t>
            </a:r>
          </a:p>
          <a:p>
            <a:r>
              <a:rPr lang="en-US" sz="2000" b="1">
                <a:latin typeface="Courier New" pitchFamily="49" charset="0"/>
              </a:rPr>
              <a:t>}</a:t>
            </a: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1905000" y="4991100"/>
            <a:ext cx="3273425" cy="925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The return expression</a:t>
            </a:r>
          </a:p>
          <a:p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must be consistent with</a:t>
            </a:r>
          </a:p>
          <a:p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the return type</a:t>
            </a:r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 flipV="1">
            <a:off x="3536950" y="4440238"/>
            <a:ext cx="0" cy="5334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5638800" y="3962400"/>
            <a:ext cx="2971800" cy="25923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r>
              <a:rPr lang="en-US" sz="1800" b="1">
                <a:latin typeface="Courier New" pitchFamily="49" charset="0"/>
              </a:rPr>
              <a:t>sum</a:t>
            </a:r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 and </a:t>
            </a:r>
            <a:r>
              <a:rPr lang="en-US" sz="1800" b="1">
                <a:latin typeface="Courier New" pitchFamily="49" charset="0"/>
              </a:rPr>
              <a:t>result</a:t>
            </a:r>
          </a:p>
          <a:p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are local data</a:t>
            </a:r>
          </a:p>
          <a:p>
            <a:endParaRPr lang="en-US" sz="1800" b="1">
              <a:solidFill>
                <a:schemeClr val="hlink"/>
              </a:solidFill>
              <a:latin typeface="Verdana" pitchFamily="34" charset="0"/>
            </a:endParaRPr>
          </a:p>
          <a:p>
            <a:r>
              <a:rPr lang="en-US" sz="1800" b="1">
                <a:solidFill>
                  <a:schemeClr val="hlink"/>
                </a:solidFill>
                <a:latin typeface="Verdana" pitchFamily="34" charset="0"/>
              </a:rPr>
              <a:t>They are created each time the method is called, and are destroyed when it finishes executing</a:t>
            </a:r>
          </a:p>
          <a:p>
            <a:endParaRPr lang="en-US" sz="1800" b="1">
              <a:solidFill>
                <a:schemeClr val="hlink"/>
              </a:solidFill>
              <a:latin typeface="Verdan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utoUpdateAnimBg="0"/>
      <p:bldP spid="36869" grpId="0" autoUpdateAnimBg="0"/>
      <p:bldP spid="36870" grpId="0" autoUpdateAnimBg="0"/>
      <p:bldP spid="36871" grpId="0" animBg="1"/>
      <p:bldP spid="36872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The return Statement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2075" tIns="46038" rIns="92075" bIns="46038"/>
          <a:lstStyle/>
          <a:p>
            <a:pPr>
              <a:spcBef>
                <a:spcPct val="75000"/>
              </a:spcBef>
            </a:pPr>
            <a:r>
              <a:rPr lang="en-US"/>
              <a:t>The </a:t>
            </a:r>
            <a:r>
              <a:rPr lang="en-US" i="1"/>
              <a:t>return type</a:t>
            </a:r>
            <a:r>
              <a:rPr lang="en-US"/>
              <a:t> of a method indicates the type of value that the method sends back to the calling location</a:t>
            </a:r>
          </a:p>
          <a:p>
            <a:pPr>
              <a:spcBef>
                <a:spcPct val="75000"/>
              </a:spcBef>
            </a:pPr>
            <a:r>
              <a:rPr lang="en-US"/>
              <a:t>A method that does not return a value has a</a:t>
            </a:r>
            <a:r>
              <a:rPr lang="en-US">
                <a:latin typeface="Courier New" pitchFamily="49" charset="0"/>
              </a:rPr>
              <a:t> void </a:t>
            </a:r>
            <a:r>
              <a:rPr lang="en-US"/>
              <a:t>return type</a:t>
            </a:r>
          </a:p>
          <a:p>
            <a:pPr>
              <a:spcBef>
                <a:spcPct val="75000"/>
              </a:spcBef>
            </a:pPr>
            <a:r>
              <a:rPr lang="en-US"/>
              <a:t>A </a:t>
            </a:r>
            <a:r>
              <a:rPr lang="en-US" i="1"/>
              <a:t>return statement</a:t>
            </a:r>
            <a:r>
              <a:rPr lang="en-US"/>
              <a:t> specifies the value that will be returned</a:t>
            </a:r>
          </a:p>
          <a:p>
            <a:pPr algn="ctr">
              <a:spcBef>
                <a:spcPct val="75000"/>
              </a:spcBef>
              <a:buFontTx/>
              <a:buNone/>
            </a:pPr>
            <a:r>
              <a:rPr lang="en-US">
                <a:latin typeface="Courier New" pitchFamily="49" charset="0"/>
              </a:rPr>
              <a:t>return </a:t>
            </a:r>
            <a:r>
              <a:rPr lang="en-US" i="1">
                <a:latin typeface="Courier New" pitchFamily="49" charset="0"/>
              </a:rPr>
              <a:t>expression</a:t>
            </a:r>
            <a:r>
              <a:rPr lang="en-US">
                <a:latin typeface="Courier New" pitchFamily="49" charset="0"/>
              </a:rPr>
              <a:t>;</a:t>
            </a:r>
          </a:p>
          <a:p>
            <a:pPr>
              <a:spcBef>
                <a:spcPct val="75000"/>
              </a:spcBef>
            </a:pPr>
            <a:r>
              <a:rPr lang="en-US"/>
              <a:t>Its expression must conform to the return 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Parameters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143000"/>
            <a:ext cx="7924800" cy="1219200"/>
          </a:xfrm>
        </p:spPr>
        <p:txBody>
          <a:bodyPr/>
          <a:lstStyle/>
          <a:p>
            <a:r>
              <a:rPr lang="en-US"/>
              <a:t>When a method is called, the </a:t>
            </a:r>
            <a:r>
              <a:rPr lang="en-US" i="1"/>
              <a:t>actual parameters</a:t>
            </a:r>
            <a:r>
              <a:rPr lang="en-US"/>
              <a:t> in the invocation are copied into the </a:t>
            </a:r>
            <a:r>
              <a:rPr lang="en-US" i="1"/>
              <a:t>formal parameters</a:t>
            </a:r>
            <a:r>
              <a:rPr lang="en-US"/>
              <a:t> in the method header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273175" y="3940175"/>
            <a:ext cx="7194550" cy="2324100"/>
            <a:chOff x="658" y="2338"/>
            <a:chExt cx="4532" cy="1464"/>
          </a:xfrm>
        </p:grpSpPr>
        <p:sp>
          <p:nvSpPr>
            <p:cNvPr id="38917" name="Text Box 5"/>
            <p:cNvSpPr txBox="1">
              <a:spLocks noChangeArrowheads="1"/>
            </p:cNvSpPr>
            <p:nvPr/>
          </p:nvSpPr>
          <p:spPr bwMode="auto">
            <a:xfrm>
              <a:off x="658" y="2338"/>
              <a:ext cx="4532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latin typeface="Courier New" pitchFamily="49" charset="0"/>
                </a:rPr>
                <a:t>char calc (int num1, int num2, String message)</a:t>
              </a:r>
            </a:p>
          </p:txBody>
        </p:sp>
        <p:sp>
          <p:nvSpPr>
            <p:cNvPr id="38918" name="Text Box 6"/>
            <p:cNvSpPr txBox="1">
              <a:spLocks noChangeArrowheads="1"/>
            </p:cNvSpPr>
            <p:nvPr/>
          </p:nvSpPr>
          <p:spPr bwMode="auto">
            <a:xfrm>
              <a:off x="672" y="2592"/>
              <a:ext cx="3764" cy="121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latin typeface="Courier New" pitchFamily="49" charset="0"/>
                </a:rPr>
                <a:t>{</a:t>
              </a:r>
            </a:p>
            <a:p>
              <a:r>
                <a:rPr lang="en-US" sz="2000" b="1">
                  <a:latin typeface="Courier New" pitchFamily="49" charset="0"/>
                </a:rPr>
                <a:t>   int sum = num1 + num2;</a:t>
              </a:r>
            </a:p>
            <a:p>
              <a:r>
                <a:rPr lang="en-US" sz="2000" b="1">
                  <a:latin typeface="Courier New" pitchFamily="49" charset="0"/>
                </a:rPr>
                <a:t>   char result = message.charAt (sum);</a:t>
              </a:r>
            </a:p>
            <a:p>
              <a:endParaRPr lang="en-US" sz="2000" b="1">
                <a:latin typeface="Courier New" pitchFamily="49" charset="0"/>
              </a:endParaRPr>
            </a:p>
            <a:p>
              <a:r>
                <a:rPr lang="en-US" sz="2000" b="1">
                  <a:latin typeface="Courier New" pitchFamily="49" charset="0"/>
                </a:rPr>
                <a:t>   return result;</a:t>
              </a:r>
            </a:p>
            <a:p>
              <a:r>
                <a:rPr lang="en-US" sz="2000" b="1">
                  <a:latin typeface="Courier New" pitchFamily="49" charset="0"/>
                </a:rPr>
                <a:t>}</a:t>
              </a:r>
            </a:p>
          </p:txBody>
        </p:sp>
      </p:grp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1905000" y="2667000"/>
            <a:ext cx="5518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latin typeface="Courier New" pitchFamily="49" charset="0"/>
              </a:rPr>
              <a:t>ch = obj.calc (25, count, "Hello");</a:t>
            </a:r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>
            <a:off x="990600" y="3505200"/>
            <a:ext cx="7620000" cy="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962400" y="3124200"/>
            <a:ext cx="3657600" cy="762000"/>
            <a:chOff x="2352" y="1824"/>
            <a:chExt cx="2304" cy="480"/>
          </a:xfrm>
        </p:grpSpPr>
        <p:cxnSp>
          <p:nvCxnSpPr>
            <p:cNvPr id="38922" name="AutoShape 10"/>
            <p:cNvCxnSpPr>
              <a:cxnSpLocks noChangeShapeType="1"/>
            </p:cNvCxnSpPr>
            <p:nvPr/>
          </p:nvCxnSpPr>
          <p:spPr bwMode="auto">
            <a:xfrm rot="5400000">
              <a:off x="2256" y="1920"/>
              <a:ext cx="480" cy="288"/>
            </a:xfrm>
            <a:prstGeom prst="bentConnector3">
              <a:avLst>
                <a:gd name="adj1" fmla="val 20620"/>
              </a:avLst>
            </a:prstGeom>
            <a:noFill/>
            <a:ln w="31750">
              <a:solidFill>
                <a:srgbClr val="FF0000"/>
              </a:solidFill>
              <a:miter lim="800000"/>
              <a:headEnd type="none" w="sm" len="sm"/>
              <a:tailEnd type="triangle" w="lg" len="med"/>
            </a:ln>
            <a:effectLst/>
          </p:spPr>
        </p:cxnSp>
        <p:cxnSp>
          <p:nvCxnSpPr>
            <p:cNvPr id="38923" name="AutoShape 11"/>
            <p:cNvCxnSpPr>
              <a:cxnSpLocks noChangeShapeType="1"/>
            </p:cNvCxnSpPr>
            <p:nvPr/>
          </p:nvCxnSpPr>
          <p:spPr bwMode="auto">
            <a:xfrm rot="16200000" flipH="1">
              <a:off x="3000" y="1992"/>
              <a:ext cx="480" cy="144"/>
            </a:xfrm>
            <a:prstGeom prst="bentConnector3">
              <a:avLst>
                <a:gd name="adj1" fmla="val 17287"/>
              </a:avLst>
            </a:prstGeom>
            <a:noFill/>
            <a:ln w="31750">
              <a:solidFill>
                <a:srgbClr val="FF0000"/>
              </a:solidFill>
              <a:miter lim="800000"/>
              <a:headEnd type="none" w="sm" len="sm"/>
              <a:tailEnd type="triangle" w="lg" len="med"/>
            </a:ln>
            <a:effectLst/>
          </p:spPr>
        </p:cxn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3936" y="1824"/>
              <a:ext cx="720" cy="480"/>
              <a:chOff x="3936" y="1824"/>
              <a:chExt cx="720" cy="480"/>
            </a:xfrm>
          </p:grpSpPr>
          <p:sp>
            <p:nvSpPr>
              <p:cNvPr id="38925" name="Line 13"/>
              <p:cNvSpPr>
                <a:spLocks noChangeShapeType="1"/>
              </p:cNvSpPr>
              <p:nvPr/>
            </p:nvSpPr>
            <p:spPr bwMode="auto">
              <a:xfrm>
                <a:off x="3936" y="1824"/>
                <a:ext cx="0" cy="96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6" name="Line 14"/>
              <p:cNvSpPr>
                <a:spLocks noChangeShapeType="1"/>
              </p:cNvSpPr>
              <p:nvPr/>
            </p:nvSpPr>
            <p:spPr bwMode="auto">
              <a:xfrm flipH="1">
                <a:off x="3936" y="1920"/>
                <a:ext cx="720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7" name="Line 15"/>
              <p:cNvSpPr>
                <a:spLocks noChangeShapeType="1"/>
              </p:cNvSpPr>
              <p:nvPr/>
            </p:nvSpPr>
            <p:spPr bwMode="auto">
              <a:xfrm>
                <a:off x="4656" y="1920"/>
                <a:ext cx="0" cy="384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sm" len="sm"/>
                <a:tailEnd type="triangle" w="lg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9" grpId="0" autoUpdateAnimBg="0"/>
      <p:bldP spid="389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Data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75000"/>
              </a:spcBef>
            </a:pPr>
            <a:r>
              <a:rPr lang="en-US"/>
              <a:t>As we’ve seen, local variables can be declared inside a method</a:t>
            </a:r>
          </a:p>
          <a:p>
            <a:pPr>
              <a:spcBef>
                <a:spcPct val="75000"/>
              </a:spcBef>
            </a:pPr>
            <a:r>
              <a:rPr lang="en-US"/>
              <a:t>The formal parameters of a method create </a:t>
            </a:r>
            <a:r>
              <a:rPr lang="en-US" i="1"/>
              <a:t>automatic local variables</a:t>
            </a:r>
            <a:r>
              <a:rPr lang="en-US"/>
              <a:t> when the method is invoked</a:t>
            </a:r>
          </a:p>
          <a:p>
            <a:pPr>
              <a:spcBef>
                <a:spcPct val="75000"/>
              </a:spcBef>
            </a:pPr>
            <a:r>
              <a:rPr lang="en-US"/>
              <a:t>When the method finishes, all local variables are destroyed (including the formal parameters)</a:t>
            </a:r>
          </a:p>
          <a:p>
            <a:pPr>
              <a:spcBef>
                <a:spcPct val="75000"/>
              </a:spcBef>
            </a:pPr>
            <a:r>
              <a:rPr lang="en-US"/>
              <a:t>Keep in mind that instance variables, declared at the class level, exists as long as the object exists</a:t>
            </a:r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Constructors Revisited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Recall that a constructor is a special method that is used to set up a newly created object</a:t>
            </a:r>
          </a:p>
          <a:p>
            <a:pPr lvl="4"/>
            <a:endParaRPr lang="en-US"/>
          </a:p>
          <a:p>
            <a:r>
              <a:rPr lang="en-US"/>
              <a:t>When writing a constructor, remember that:</a:t>
            </a:r>
          </a:p>
          <a:p>
            <a:pPr lvl="1"/>
            <a:r>
              <a:rPr lang="en-US"/>
              <a:t>it has the same name as the class</a:t>
            </a:r>
          </a:p>
          <a:p>
            <a:pPr lvl="1"/>
            <a:r>
              <a:rPr lang="en-US"/>
              <a:t>it does not return a value</a:t>
            </a:r>
          </a:p>
          <a:p>
            <a:pPr lvl="1"/>
            <a:r>
              <a:rPr lang="en-US"/>
              <a:t>it has no return type, not even</a:t>
            </a:r>
            <a:r>
              <a:rPr lang="en-US">
                <a:latin typeface="Courier New" pitchFamily="49" charset="0"/>
              </a:rPr>
              <a:t> void</a:t>
            </a:r>
            <a:endParaRPr lang="en-US"/>
          </a:p>
          <a:p>
            <a:pPr lvl="1"/>
            <a:r>
              <a:rPr lang="en-US"/>
              <a:t>it often sets the initial values of instance variables </a:t>
            </a:r>
          </a:p>
          <a:p>
            <a:pPr lvl="1">
              <a:buFont typeface="Wingdings" pitchFamily="2" charset="2"/>
              <a:buNone/>
            </a:pPr>
            <a:endParaRPr lang="en-US"/>
          </a:p>
          <a:p>
            <a:r>
              <a:rPr lang="en-US"/>
              <a:t>The programmer does not have to define a constructor for a class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Bank Account Example</a:t>
            </a:r>
          </a:p>
        </p:txBody>
      </p:sp>
      <p:sp>
        <p:nvSpPr>
          <p:cNvPr id="5939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70000"/>
              </a:spcBef>
            </a:pPr>
            <a:r>
              <a:rPr lang="en-US"/>
              <a:t>Let’s look at another example that demonstrates the implementation details of classes and methods</a:t>
            </a:r>
          </a:p>
          <a:p>
            <a:pPr>
              <a:spcBef>
                <a:spcPct val="70000"/>
              </a:spcBef>
            </a:pPr>
            <a:r>
              <a:rPr lang="en-US"/>
              <a:t>We’ll represent a bank account by a class named </a:t>
            </a:r>
            <a:r>
              <a:rPr lang="en-US">
                <a:latin typeface="Courier New" pitchFamily="49" charset="0"/>
              </a:rPr>
              <a:t>Account</a:t>
            </a:r>
            <a:endParaRPr lang="en-US"/>
          </a:p>
          <a:p>
            <a:pPr>
              <a:spcBef>
                <a:spcPct val="70000"/>
              </a:spcBef>
            </a:pPr>
            <a:r>
              <a:rPr lang="en-US"/>
              <a:t>It’s state can include the account number, the current balance, and the name of the owner</a:t>
            </a:r>
          </a:p>
          <a:p>
            <a:pPr>
              <a:spcBef>
                <a:spcPct val="70000"/>
              </a:spcBef>
            </a:pPr>
            <a:r>
              <a:rPr lang="en-US"/>
              <a:t>An account’s behaviors (or services) include deposits and withdrawals, and adding interest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the Account class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5486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	Account acct1 = new Account ("Ted Murphy", 72354, 102.56);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Account acct2 = new Account ("Jane Smith", 69713, 40.00);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Account acct3 = new Account ("Edward Demsey", 93757, 759.32);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acct1.deposit (25.85);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double smithBalance = acct2.deposit (500.00);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System.out.println ("Smith balance after deposit: " +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                    smithBalance);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System.out.println ("Murphy balance after withdrawal: " +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                    acct2.withdraw (430.75, 1.50));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acct1.addInterest();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acct2.addInterest();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acct3.addInterest();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System.out.println 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System.out.println (acct1);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System.out.println (acct2);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      System.out.println (acct3);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6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Account class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54102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public class Account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private final double RATE = 0.035;  // interest rate of 3.5%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private long acctNumber;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private double balance;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private String name;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//-----------------------------------------------------------------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  Sets up the account by defining its owner, account number,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  and initial balance.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//-----------------------------------------------------------------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public Account (String owner, long account, double initial)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   name = owner;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   acctNumber = account;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   balance = initial;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5410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//-----------------------------------------------------------------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  Deposits the specified amount into the account. Returns the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  new balance.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//-----------------------------------------------------------------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public double deposit (double amount)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if (amount &gt; 0)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      balance = balance + amount;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   return balance;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//-----------------------------------------------------------------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  Withdraws the specified amount from the account and applies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  the fee. Returns the new balance.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//-----------------------------------------------------------------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public double withdraw (double amount)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 if (amount &lt;= balance)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	      balance = balance - amount 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   return balance;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219200"/>
            <a:ext cx="7924800" cy="54864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//-----------------------------------------------------------------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  Returns the current balance of the account.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//-----------------------------------------------------------------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public double getBalance 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   return balance;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//-----------------------------------------------------------------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  Returns a one-line description of the account as a string.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//-----------------------------------------------------------------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public String toString 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   NumberFormat fmt = NumberFormat.getCurrencyInstance();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   return (acctNumber + "\t" + name + "\t" + fmt.format(balance));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800"/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AF721-A27E-4E49-B49D-CDFB478F646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2671</TotalTime>
  <Words>3912</Words>
  <Application>Microsoft Office PowerPoint</Application>
  <PresentationFormat>On-screen Show (4:3)</PresentationFormat>
  <Paragraphs>608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Arial</vt:lpstr>
      <vt:lpstr>Arial Unicode MS</vt:lpstr>
      <vt:lpstr>Calibri</vt:lpstr>
      <vt:lpstr>Calibri Light</vt:lpstr>
      <vt:lpstr>Courier New</vt:lpstr>
      <vt:lpstr>Monotype Sorts</vt:lpstr>
      <vt:lpstr>Times New Roman</vt:lpstr>
      <vt:lpstr>Verdana</vt:lpstr>
      <vt:lpstr>Wingdings</vt:lpstr>
      <vt:lpstr>Office Theme</vt:lpstr>
      <vt:lpstr>CSE 1201 Object Oriented Programming</vt:lpstr>
      <vt:lpstr>Acknowledgement</vt:lpstr>
      <vt:lpstr>Outline</vt:lpstr>
      <vt:lpstr>Writing Classes</vt:lpstr>
      <vt:lpstr>A sample problem</vt:lpstr>
      <vt:lpstr>Structured dice</vt:lpstr>
      <vt:lpstr>Object Oriented Approach</vt:lpstr>
      <vt:lpstr>Classes</vt:lpstr>
      <vt:lpstr>Data and Methods</vt:lpstr>
      <vt:lpstr>Classes</vt:lpstr>
      <vt:lpstr>PowerPoint Presentation</vt:lpstr>
      <vt:lpstr>dice Cont.</vt:lpstr>
      <vt:lpstr>The new Version </vt:lpstr>
      <vt:lpstr>Using dice class in general</vt:lpstr>
      <vt:lpstr>The dice Class</vt:lpstr>
      <vt:lpstr>The toString Method</vt:lpstr>
      <vt:lpstr>Constructors</vt:lpstr>
      <vt:lpstr>Data Scope</vt:lpstr>
      <vt:lpstr>Local and Class scope</vt:lpstr>
      <vt:lpstr>Instance Data</vt:lpstr>
      <vt:lpstr>Instance Data</vt:lpstr>
      <vt:lpstr>Coin Example</vt:lpstr>
      <vt:lpstr>Coin Class</vt:lpstr>
      <vt:lpstr>Count Flips</vt:lpstr>
      <vt:lpstr>FlipRace</vt:lpstr>
      <vt:lpstr>UML Diagrams</vt:lpstr>
      <vt:lpstr>UML Class Diagrams</vt:lpstr>
      <vt:lpstr>Encapsulation</vt:lpstr>
      <vt:lpstr>Encapsulation</vt:lpstr>
      <vt:lpstr>Encapsulation</vt:lpstr>
      <vt:lpstr>Visibility Modifiers</vt:lpstr>
      <vt:lpstr>Visibility Modifiers</vt:lpstr>
      <vt:lpstr>PowerPoint Presentation</vt:lpstr>
      <vt:lpstr>Visibility Modifiers</vt:lpstr>
      <vt:lpstr>Visibility Modifiers</vt:lpstr>
      <vt:lpstr>Visibility Modifiers</vt:lpstr>
      <vt:lpstr>Accessors and Mutators</vt:lpstr>
      <vt:lpstr>Mutator Restrictions</vt:lpstr>
      <vt:lpstr>Method Declarations</vt:lpstr>
      <vt:lpstr>Method Control Flow</vt:lpstr>
      <vt:lpstr>Method Control Flow</vt:lpstr>
      <vt:lpstr>Method Header</vt:lpstr>
      <vt:lpstr>Method Body</vt:lpstr>
      <vt:lpstr>The return Statement</vt:lpstr>
      <vt:lpstr>Parameters</vt:lpstr>
      <vt:lpstr>Local Data</vt:lpstr>
      <vt:lpstr>Constructors Revisited</vt:lpstr>
      <vt:lpstr>Bank Account Example</vt:lpstr>
      <vt:lpstr>Using the Account class</vt:lpstr>
      <vt:lpstr>Account class</vt:lpstr>
      <vt:lpstr>PowerPoint Presentation</vt:lpstr>
      <vt:lpstr>PowerPoint Presentation</vt:lpstr>
    </vt:vector>
  </TitlesOfParts>
  <Company>Bilkent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 Using Objects</dc:title>
  <dc:creator>Bedir Tekinerdogan</dc:creator>
  <cp:lastModifiedBy>CSE LAB 2026</cp:lastModifiedBy>
  <cp:revision>64</cp:revision>
  <dcterms:created xsi:type="dcterms:W3CDTF">1999-08-23T17:38:43Z</dcterms:created>
  <dcterms:modified xsi:type="dcterms:W3CDTF">2026-09-09T09:38:17Z</dcterms:modified>
</cp:coreProperties>
</file>