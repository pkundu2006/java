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997700" cy="9283700"/>
  <p:embeddedFontLst>
    <p:embeddedFont>
      <p:font typeface="Arimo"/>
      <p:regular r:id="rId35"/>
      <p:bold r:id="rId36"/>
      <p:italic r:id="rId37"/>
      <p:boldItalic r:id="rId38"/>
    </p:embeddedFont>
    <p:embeddedFont>
      <p:font typeface="Arial Narrow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gl7h1ITX6KoaGFTNtJxChv3SlT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Narrow-bold.fntdata"/><Relationship Id="rId20" Type="http://schemas.openxmlformats.org/officeDocument/2006/relationships/slide" Target="slides/slide15.xml"/><Relationship Id="rId42" Type="http://schemas.openxmlformats.org/officeDocument/2006/relationships/font" Target="fonts/ArialNarrow-boldItalic.fntdata"/><Relationship Id="rId41" Type="http://schemas.openxmlformats.org/officeDocument/2006/relationships/font" Target="fonts/ArialNarrow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imo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Arimo-italic.fntdata"/><Relationship Id="rId14" Type="http://schemas.openxmlformats.org/officeDocument/2006/relationships/slide" Target="slides/slide9.xml"/><Relationship Id="rId36" Type="http://schemas.openxmlformats.org/officeDocument/2006/relationships/font" Target="fonts/Arimo-bold.fntdata"/><Relationship Id="rId17" Type="http://schemas.openxmlformats.org/officeDocument/2006/relationships/slide" Target="slides/slide12.xml"/><Relationship Id="rId39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38" Type="http://schemas.openxmlformats.org/officeDocument/2006/relationships/font" Target="fonts/Arim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3988" y="0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500" lIns="93025" spcFirstLastPara="1" rIns="93025" wrap="square" tIns="46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85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6500" lIns="93025" spcFirstLastPara="1" rIns="93025" wrap="square" tIns="46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1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4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8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:notes"/>
          <p:cNvSpPr txBox="1"/>
          <p:nvPr>
            <p:ph idx="1" type="body"/>
          </p:nvPr>
        </p:nvSpPr>
        <p:spPr>
          <a:xfrm>
            <a:off x="700088" y="4410075"/>
            <a:ext cx="5597525" cy="4176713"/>
          </a:xfrm>
          <a:prstGeom prst="rect">
            <a:avLst/>
          </a:prstGeom>
        </p:spPr>
        <p:txBody>
          <a:bodyPr anchorCtr="0" anchor="t" bIns="46500" lIns="93025" spcFirstLastPara="1" rIns="93025" wrap="square" tIns="46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9:notes"/>
          <p:cNvSpPr/>
          <p:nvPr>
            <p:ph idx="2" type="sldImg"/>
          </p:nvPr>
        </p:nvSpPr>
        <p:spPr>
          <a:xfrm>
            <a:off x="1177925" y="696913"/>
            <a:ext cx="4641850" cy="34813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3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7" name="Google Shape;37;p31"/>
            <p:cNvSpPr/>
            <p:nvPr/>
          </p:nvSpPr>
          <p:spPr>
            <a:xfrm>
              <a:off x="0" y="0"/>
              <a:ext cx="5760" cy="535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" name="Google Shape;38;p31"/>
            <p:cNvSpPr/>
            <p:nvPr/>
          </p:nvSpPr>
          <p:spPr>
            <a:xfrm>
              <a:off x="0" y="3147"/>
              <a:ext cx="5760" cy="1173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folHlink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9" name="Google Shape;39;p31"/>
          <p:cNvSpPr/>
          <p:nvPr/>
        </p:nvSpPr>
        <p:spPr>
          <a:xfrm>
            <a:off x="463550" y="2700338"/>
            <a:ext cx="161925" cy="4157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31"/>
          <p:cNvSpPr/>
          <p:nvPr/>
        </p:nvSpPr>
        <p:spPr>
          <a:xfrm>
            <a:off x="4419600" y="990600"/>
            <a:ext cx="304800" cy="274638"/>
          </a:xfrm>
          <a:prstGeom prst="ellipse">
            <a:avLst/>
          </a:prstGeom>
          <a:gradFill>
            <a:gsLst>
              <a:gs pos="0">
                <a:srgbClr val="FEFFFF"/>
              </a:gs>
              <a:gs pos="100000">
                <a:schemeClr val="folHlink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31"/>
          <p:cNvSpPr/>
          <p:nvPr/>
        </p:nvSpPr>
        <p:spPr>
          <a:xfrm rot="-5400000">
            <a:off x="4457700" y="-2933700"/>
            <a:ext cx="228600" cy="9144000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31"/>
          <p:cNvSpPr txBox="1"/>
          <p:nvPr>
            <p:ph type="ctrTitle"/>
          </p:nvPr>
        </p:nvSpPr>
        <p:spPr>
          <a:xfrm>
            <a:off x="7620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" type="subTitle"/>
          </p:nvPr>
        </p:nvSpPr>
        <p:spPr>
          <a:xfrm>
            <a:off x="838200" y="1981200"/>
            <a:ext cx="7543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0" type="dt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1"/>
          <p:cNvSpPr txBox="1"/>
          <p:nvPr>
            <p:ph idx="11" type="ftr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2" type="sldNum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  <p:sp>
        <p:nvSpPr>
          <p:cNvPr id="56" name="Google Shape;56;p33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3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" type="body"/>
          </p:nvPr>
        </p:nvSpPr>
        <p:spPr>
          <a:xfrm>
            <a:off x="6096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62" name="Google Shape;62;p34"/>
          <p:cNvSpPr txBox="1"/>
          <p:nvPr>
            <p:ph idx="2" type="body"/>
          </p:nvPr>
        </p:nvSpPr>
        <p:spPr>
          <a:xfrm>
            <a:off x="48387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/>
        </p:txBody>
      </p:sp>
      <p:sp>
        <p:nvSpPr>
          <p:cNvPr id="63" name="Google Shape;63;p34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69" name="Google Shape;69;p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70" name="Google Shape;70;p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71" name="Google Shape;71;p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/>
        </p:txBody>
      </p:sp>
      <p:sp>
        <p:nvSpPr>
          <p:cNvPr id="72" name="Google Shape;72;p35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7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7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–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9pPr>
          </a:lstStyle>
          <a:p/>
        </p:txBody>
      </p:sp>
      <p:sp>
        <p:nvSpPr>
          <p:cNvPr id="87" name="Google Shape;8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88" name="Google Shape;88;p38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8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8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  <p:sp>
        <p:nvSpPr>
          <p:cNvPr id="95" name="Google Shape;95;p39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9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9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0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0"/>
          <p:cNvSpPr txBox="1"/>
          <p:nvPr>
            <p:ph idx="1" type="body"/>
          </p:nvPr>
        </p:nvSpPr>
        <p:spPr>
          <a:xfrm rot="5400000">
            <a:off x="2309813" y="-433387"/>
            <a:ext cx="4905375" cy="83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1" name="Google Shape;101;p40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0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1"/>
          <p:cNvSpPr txBox="1"/>
          <p:nvPr>
            <p:ph type="title"/>
          </p:nvPr>
        </p:nvSpPr>
        <p:spPr>
          <a:xfrm rot="5400000">
            <a:off x="4890294" y="2147094"/>
            <a:ext cx="5973762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1"/>
          <p:cNvSpPr txBox="1"/>
          <p:nvPr>
            <p:ph idx="1" type="body"/>
          </p:nvPr>
        </p:nvSpPr>
        <p:spPr>
          <a:xfrm rot="5400000">
            <a:off x="661194" y="146844"/>
            <a:ext cx="5973762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07" name="Google Shape;107;p41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1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" type="body"/>
          </p:nvPr>
        </p:nvSpPr>
        <p:spPr>
          <a:xfrm>
            <a:off x="6096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3" name="Google Shape;113;p42"/>
          <p:cNvSpPr txBox="1"/>
          <p:nvPr>
            <p:ph idx="2" type="body"/>
          </p:nvPr>
        </p:nvSpPr>
        <p:spPr>
          <a:xfrm>
            <a:off x="4838700" y="1266825"/>
            <a:ext cx="4076700" cy="2376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4" name="Google Shape;114;p42"/>
          <p:cNvSpPr txBox="1"/>
          <p:nvPr>
            <p:ph idx="3" type="body"/>
          </p:nvPr>
        </p:nvSpPr>
        <p:spPr>
          <a:xfrm>
            <a:off x="4838700" y="3795713"/>
            <a:ext cx="4076700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3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3"/>
          <p:cNvSpPr txBox="1"/>
          <p:nvPr>
            <p:ph idx="1" type="body"/>
          </p:nvPr>
        </p:nvSpPr>
        <p:spPr>
          <a:xfrm>
            <a:off x="6096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21" name="Google Shape;121;p43"/>
          <p:cNvSpPr txBox="1"/>
          <p:nvPr>
            <p:ph idx="2" type="body"/>
          </p:nvPr>
        </p:nvSpPr>
        <p:spPr>
          <a:xfrm>
            <a:off x="48387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1981200" y="457200"/>
            <a:ext cx="304800" cy="274638"/>
          </a:xfrm>
          <a:prstGeom prst="ellipse">
            <a:avLst/>
          </a:prstGeom>
          <a:gradFill>
            <a:gsLst>
              <a:gs pos="0">
                <a:srgbClr val="FEFFFF"/>
              </a:gs>
              <a:gs pos="100000">
                <a:schemeClr val="folHlink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oogle Shape;11;p30"/>
          <p:cNvGrpSpPr/>
          <p:nvPr/>
        </p:nvGrpSpPr>
        <p:grpSpPr>
          <a:xfrm>
            <a:off x="8329613" y="733425"/>
            <a:ext cx="720725" cy="531813"/>
            <a:chOff x="5247" y="462"/>
            <a:chExt cx="454" cy="335"/>
          </a:xfrm>
        </p:grpSpPr>
        <p:sp>
          <p:nvSpPr>
            <p:cNvPr id="12" name="Google Shape;12;p30"/>
            <p:cNvSpPr/>
            <p:nvPr/>
          </p:nvSpPr>
          <p:spPr>
            <a:xfrm flipH="1" rot="10800000">
              <a:off x="5564" y="462"/>
              <a:ext cx="137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30"/>
            <p:cNvSpPr/>
            <p:nvPr/>
          </p:nvSpPr>
          <p:spPr>
            <a:xfrm flipH="1" rot="10800000">
              <a:off x="5407" y="462"/>
              <a:ext cx="138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30"/>
            <p:cNvSpPr/>
            <p:nvPr/>
          </p:nvSpPr>
          <p:spPr>
            <a:xfrm flipH="1" rot="10800000">
              <a:off x="5247" y="462"/>
              <a:ext cx="138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" name="Google Shape;15;p30"/>
          <p:cNvGrpSpPr/>
          <p:nvPr/>
        </p:nvGrpSpPr>
        <p:grpSpPr>
          <a:xfrm>
            <a:off x="77788" y="6040438"/>
            <a:ext cx="532606" cy="726281"/>
            <a:chOff x="49" y="3805"/>
            <a:chExt cx="336" cy="457"/>
          </a:xfrm>
        </p:grpSpPr>
        <p:sp>
          <p:nvSpPr>
            <p:cNvPr id="16" name="Google Shape;16;p30"/>
            <p:cNvSpPr/>
            <p:nvPr/>
          </p:nvSpPr>
          <p:spPr>
            <a:xfrm flipH="1" rot="5400000">
              <a:off x="148" y="3706"/>
              <a:ext cx="137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7;p30"/>
            <p:cNvSpPr/>
            <p:nvPr/>
          </p:nvSpPr>
          <p:spPr>
            <a:xfrm flipH="1" rot="5400000">
              <a:off x="148" y="3869"/>
              <a:ext cx="138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 flipH="1" rot="5400000">
              <a:off x="148" y="4026"/>
              <a:ext cx="138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" name="Google Shape;19;p30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Char char="●"/>
              <a:defRPr b="1" i="0" sz="24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•"/>
              <a:defRPr b="1" i="0" sz="20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–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–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b="1" i="0" sz="1800" u="none" cap="none" strike="noStrik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1" type="ftr"/>
          </p:nvPr>
        </p:nvSpPr>
        <p:spPr>
          <a:xfrm>
            <a:off x="366395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70929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0"/>
          <p:cNvSpPr/>
          <p:nvPr/>
        </p:nvSpPr>
        <p:spPr>
          <a:xfrm>
            <a:off x="227013" y="0"/>
            <a:ext cx="2286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30"/>
          <p:cNvSpPr/>
          <p:nvPr/>
        </p:nvSpPr>
        <p:spPr>
          <a:xfrm flipH="1">
            <a:off x="304800" y="914400"/>
            <a:ext cx="8839200" cy="228600"/>
          </a:xfrm>
          <a:prstGeom prst="homePlate">
            <a:avLst>
              <a:gd fmla="val 67846" name="adj"/>
            </a:avLst>
          </a:prstGeom>
          <a:gradFill>
            <a:gsLst>
              <a:gs pos="0">
                <a:schemeClr val="dk1"/>
              </a:gs>
              <a:gs pos="50000">
                <a:schemeClr val="folHlink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30"/>
          <p:cNvSpPr/>
          <p:nvPr/>
        </p:nvSpPr>
        <p:spPr>
          <a:xfrm>
            <a:off x="1981200" y="2179638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" name="Google Shape;26;p30"/>
          <p:cNvGrpSpPr/>
          <p:nvPr/>
        </p:nvGrpSpPr>
        <p:grpSpPr>
          <a:xfrm>
            <a:off x="77788" y="5903119"/>
            <a:ext cx="534194" cy="750094"/>
            <a:chOff x="49" y="3718"/>
            <a:chExt cx="337" cy="473"/>
          </a:xfrm>
        </p:grpSpPr>
        <p:sp>
          <p:nvSpPr>
            <p:cNvPr id="27" name="Google Shape;27;p30"/>
            <p:cNvSpPr/>
            <p:nvPr/>
          </p:nvSpPr>
          <p:spPr>
            <a:xfrm rot="-5400000">
              <a:off x="143" y="3626"/>
              <a:ext cx="150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30"/>
            <p:cNvSpPr/>
            <p:nvPr/>
          </p:nvSpPr>
          <p:spPr>
            <a:xfrm rot="-5400000">
              <a:off x="141" y="3786"/>
              <a:ext cx="151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 rot="-5400000">
              <a:off x="142" y="3948"/>
              <a:ext cx="150" cy="336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" name="Google Shape;30;p30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grpSp>
        <p:nvGrpSpPr>
          <p:cNvPr id="31" name="Google Shape;31;p30"/>
          <p:cNvGrpSpPr/>
          <p:nvPr/>
        </p:nvGrpSpPr>
        <p:grpSpPr>
          <a:xfrm>
            <a:off x="8189913" y="731838"/>
            <a:ext cx="739775" cy="533400"/>
            <a:chOff x="5159" y="461"/>
            <a:chExt cx="466" cy="336"/>
          </a:xfrm>
        </p:grpSpPr>
        <p:sp>
          <p:nvSpPr>
            <p:cNvPr id="32" name="Google Shape;32;p30"/>
            <p:cNvSpPr/>
            <p:nvPr/>
          </p:nvSpPr>
          <p:spPr>
            <a:xfrm>
              <a:off x="5475" y="462"/>
              <a:ext cx="150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>
              <a:off x="5318" y="462"/>
              <a:ext cx="151" cy="335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>
              <a:off x="5159" y="461"/>
              <a:ext cx="150" cy="336"/>
            </a:xfrm>
            <a:prstGeom prst="parallelogram">
              <a:avLst>
                <a:gd fmla="val 52954" name="adj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book-slides/examples/chap03/RandomNumbers.java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../examples/chap02/Echo.java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book-slides/examples/chap03/Quadratic.java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"/>
          <p:cNvSpPr txBox="1"/>
          <p:nvPr>
            <p:ph type="ctrTitle"/>
          </p:nvPr>
        </p:nvSpPr>
        <p:spPr>
          <a:xfrm>
            <a:off x="827584" y="1484784"/>
            <a:ext cx="7772400" cy="118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1201</a:t>
            </a:r>
            <a:br>
              <a:rPr lang="en-US"/>
            </a:br>
            <a:r>
              <a:rPr lang="en-US"/>
              <a:t>Object Oriented Programming</a:t>
            </a:r>
            <a:endParaRPr/>
          </a:p>
        </p:txBody>
      </p:sp>
      <p:sp>
        <p:nvSpPr>
          <p:cNvPr id="130" name="Google Shape;130;p1"/>
          <p:cNvSpPr txBox="1"/>
          <p:nvPr>
            <p:ph idx="1" type="subTitle"/>
          </p:nvPr>
        </p:nvSpPr>
        <p:spPr>
          <a:xfrm>
            <a:off x="916632" y="2845296"/>
            <a:ext cx="7543800" cy="108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</a:pPr>
            <a:r>
              <a:rPr lang="en-US" sz="3600">
                <a:solidFill>
                  <a:srgbClr val="953A1F"/>
                </a:solidFill>
              </a:rPr>
              <a:t>Using Classes and Objects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Acknowledgement</a:t>
            </a:r>
            <a:endParaRPr/>
          </a:p>
        </p:txBody>
      </p:sp>
      <p:sp>
        <p:nvSpPr>
          <p:cNvPr id="136" name="Google Shape;136;p2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Course materials from Dr. Tagrul Dayar, Bilkent University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Creating Objects</a:t>
            </a:r>
            <a:endParaRPr/>
          </a:p>
        </p:txBody>
      </p:sp>
      <p:sp>
        <p:nvSpPr>
          <p:cNvPr id="142" name="Google Shape;142;p3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variable holds either a primitive type or a </a:t>
            </a:r>
            <a:r>
              <a:rPr i="1" lang="en-US"/>
              <a:t>reference</a:t>
            </a:r>
            <a:r>
              <a:rPr lang="en-US"/>
              <a:t> to an object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class name can be used as a type to declare an </a:t>
            </a:r>
            <a:r>
              <a:rPr i="1" lang="en-US"/>
              <a:t>object reference variable</a:t>
            </a:r>
            <a:endParaRPr/>
          </a:p>
          <a:p>
            <a:pPr indent="-342900" lvl="0" marL="342900" rtl="0" algn="ctr">
              <a:spcBef>
                <a:spcPts val="1800"/>
              </a:spcBef>
              <a:spcAft>
                <a:spcPts val="0"/>
              </a:spcAft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 title;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 object is created with this declaration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object reference variable holds the address of an object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object itself must be created separately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Creating Objects</a:t>
            </a:r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990600" y="1247775"/>
            <a:ext cx="7924800" cy="64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Generally, we use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/>
              <a:t> operator to create an object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339850" y="2420938"/>
            <a:ext cx="7346950" cy="3968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title = new String ("Java Software Solutions");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3416300" y="3413125"/>
            <a:ext cx="4786313" cy="7016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This calls the String </a:t>
            </a:r>
            <a:r>
              <a:rPr b="1" i="1" lang="en-US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constructor</a:t>
            </a:r>
            <a:r>
              <a:rPr b="1" lang="en-US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, which 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a special method that sets up the object</a:t>
            </a:r>
            <a:endParaRPr sz="2400">
              <a:solidFill>
                <a:schemeClr val="hlink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1" name="Google Shape;151;p4"/>
          <p:cNvSpPr/>
          <p:nvPr/>
        </p:nvSpPr>
        <p:spPr>
          <a:xfrm rot="-5400000">
            <a:off x="5607050" y="592138"/>
            <a:ext cx="457200" cy="50292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66800" y="4419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an object is called </a:t>
            </a:r>
            <a:r>
              <a:rPr b="1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instantiation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066800" y="5105400"/>
            <a:ext cx="7848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 object is an </a:t>
            </a:r>
            <a:r>
              <a:rPr b="1" i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r>
              <a:rPr b="1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a particular class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Invoking Methods</a:t>
            </a:r>
            <a:endParaRPr/>
          </a:p>
        </p:txBody>
      </p:sp>
      <p:sp>
        <p:nvSpPr>
          <p:cNvPr id="159" name="Google Shape;159;p5"/>
          <p:cNvSpPr txBox="1"/>
          <p:nvPr>
            <p:ph idx="1" type="body"/>
          </p:nvPr>
        </p:nvSpPr>
        <p:spPr>
          <a:xfrm>
            <a:off x="990600" y="1219200"/>
            <a:ext cx="7924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We've seen that once an object has been instantiated, we can use the </a:t>
            </a:r>
            <a:r>
              <a:rPr i="1" lang="en-US"/>
              <a:t>dot operator</a:t>
            </a:r>
            <a:r>
              <a:rPr lang="en-US"/>
              <a:t> to invoke its methods</a:t>
            </a:r>
            <a:endParaRPr/>
          </a:p>
          <a:p>
            <a:pPr indent="-342900" lvl="0" marL="342900" rtl="0" algn="ctr">
              <a:spcBef>
                <a:spcPts val="2040"/>
              </a:spcBef>
              <a:spcAft>
                <a:spcPts val="0"/>
              </a:spcAft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count = title.length()</a:t>
            </a:r>
            <a:endParaRPr/>
          </a:p>
          <a:p>
            <a:pPr indent="-342900" lvl="0" marL="342900" rtl="0" algn="l">
              <a:spcBef>
                <a:spcPts val="204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method may </a:t>
            </a:r>
            <a:r>
              <a:rPr i="1" lang="en-US"/>
              <a:t>return a value</a:t>
            </a:r>
            <a:r>
              <a:rPr lang="en-US"/>
              <a:t>, which can be used in an assignment or expression</a:t>
            </a:r>
            <a:endParaRPr/>
          </a:p>
          <a:p>
            <a:pPr indent="-342900" lvl="0" marL="342900" rtl="0" algn="l">
              <a:spcBef>
                <a:spcPts val="204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method invocation can be thought of as asking an object to perform a service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990600" y="1219200"/>
            <a:ext cx="79248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Note that a primitive variable contains the value itself, but an object variable contains the address of the object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object reference can be thought of as a pointer to the location of the object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Rather than dealing with arbitrary addresses, we often depict a reference graphically</a:t>
            </a:r>
            <a:endParaRPr/>
          </a:p>
        </p:txBody>
      </p:sp>
      <p:grpSp>
        <p:nvGrpSpPr>
          <p:cNvPr id="166" name="Google Shape;166;p6"/>
          <p:cNvGrpSpPr/>
          <p:nvPr/>
        </p:nvGrpSpPr>
        <p:grpSpPr>
          <a:xfrm>
            <a:off x="2743200" y="4724400"/>
            <a:ext cx="4572000" cy="1050925"/>
            <a:chOff x="912" y="2976"/>
            <a:chExt cx="2880" cy="662"/>
          </a:xfrm>
        </p:grpSpPr>
        <p:sp>
          <p:nvSpPr>
            <p:cNvPr id="167" name="Google Shape;167;p6"/>
            <p:cNvSpPr/>
            <p:nvPr/>
          </p:nvSpPr>
          <p:spPr>
            <a:xfrm>
              <a:off x="1536" y="3350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2400" y="3350"/>
              <a:ext cx="1392" cy="240"/>
            </a:xfrm>
            <a:prstGeom prst="roundRect">
              <a:avLst>
                <a:gd fmla="val 16667" name="adj"/>
              </a:avLst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“Mohima Mohi"</a:t>
              </a:r>
              <a:endParaRPr b="1" sz="20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9" name="Google Shape;169;p6"/>
            <p:cNvSpPr txBox="1"/>
            <p:nvPr/>
          </p:nvSpPr>
          <p:spPr>
            <a:xfrm>
              <a:off x="912" y="3388"/>
              <a:ext cx="5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name1</a:t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1536" y="2976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988" y="3014"/>
              <a:ext cx="5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num1</a:t>
              </a: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1584" y="2976"/>
              <a:ext cx="3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/>
            </a:p>
          </p:txBody>
        </p:sp>
        <p:cxnSp>
          <p:nvCxnSpPr>
            <p:cNvPr id="173" name="Google Shape;173;p6"/>
            <p:cNvCxnSpPr/>
            <p:nvPr/>
          </p:nvCxnSpPr>
          <p:spPr>
            <a:xfrm>
              <a:off x="1728" y="3456"/>
              <a:ext cx="624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Revisited</a:t>
            </a:r>
            <a:endParaRPr/>
          </a:p>
        </p:txBody>
      </p:sp>
      <p:sp>
        <p:nvSpPr>
          <p:cNvPr id="179" name="Google Shape;179;p7"/>
          <p:cNvSpPr txBox="1"/>
          <p:nvPr>
            <p:ph idx="1" type="body"/>
          </p:nvPr>
        </p:nvSpPr>
        <p:spPr>
          <a:xfrm>
            <a:off x="990600" y="1219200"/>
            <a:ext cx="792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act of assignment takes a copy of a value and stores it in a variable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primitive types:</a:t>
            </a:r>
            <a:endParaRPr/>
          </a:p>
        </p:txBody>
      </p:sp>
      <p:grpSp>
        <p:nvGrpSpPr>
          <p:cNvPr id="180" name="Google Shape;180;p7"/>
          <p:cNvGrpSpPr/>
          <p:nvPr/>
        </p:nvGrpSpPr>
        <p:grpSpPr>
          <a:xfrm>
            <a:off x="2514600" y="2895600"/>
            <a:ext cx="3079750" cy="990600"/>
            <a:chOff x="1584" y="1824"/>
            <a:chExt cx="1940" cy="624"/>
          </a:xfrm>
        </p:grpSpPr>
        <p:sp>
          <p:nvSpPr>
            <p:cNvPr id="181" name="Google Shape;181;p7"/>
            <p:cNvSpPr/>
            <p:nvPr/>
          </p:nvSpPr>
          <p:spPr>
            <a:xfrm>
              <a:off x="3092" y="1824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2544" y="1862"/>
              <a:ext cx="5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num1</a:t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3140" y="1824"/>
              <a:ext cx="3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3092" y="2160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2544" y="2198"/>
              <a:ext cx="5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num2</a:t>
              </a:r>
              <a:endParaRPr/>
            </a:p>
          </p:txBody>
        </p:sp>
        <p:sp>
          <p:nvSpPr>
            <p:cNvPr id="186" name="Google Shape;186;p7"/>
            <p:cNvSpPr txBox="1"/>
            <p:nvPr/>
          </p:nvSpPr>
          <p:spPr>
            <a:xfrm>
              <a:off x="3140" y="2160"/>
              <a:ext cx="3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96</a:t>
              </a:r>
              <a:endParaRPr/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1584" y="2006"/>
              <a:ext cx="78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Before:</a:t>
              </a:r>
              <a:endParaRPr/>
            </a:p>
          </p:txBody>
        </p:sp>
      </p:grpSp>
      <p:sp>
        <p:nvSpPr>
          <p:cNvPr id="188" name="Google Shape;188;p7"/>
          <p:cNvSpPr txBox="1"/>
          <p:nvPr/>
        </p:nvSpPr>
        <p:spPr>
          <a:xfrm>
            <a:off x="2590800" y="4191000"/>
            <a:ext cx="2012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num2 = num1;</a:t>
            </a:r>
            <a:endParaRPr/>
          </a:p>
        </p:txBody>
      </p:sp>
      <p:grpSp>
        <p:nvGrpSpPr>
          <p:cNvPr id="189" name="Google Shape;189;p7"/>
          <p:cNvGrpSpPr/>
          <p:nvPr/>
        </p:nvGrpSpPr>
        <p:grpSpPr>
          <a:xfrm>
            <a:off x="2590800" y="4968875"/>
            <a:ext cx="3079750" cy="990600"/>
            <a:chOff x="1632" y="3130"/>
            <a:chExt cx="1940" cy="624"/>
          </a:xfrm>
        </p:grpSpPr>
        <p:sp>
          <p:nvSpPr>
            <p:cNvPr id="190" name="Google Shape;190;p7"/>
            <p:cNvSpPr/>
            <p:nvPr/>
          </p:nvSpPr>
          <p:spPr>
            <a:xfrm>
              <a:off x="3140" y="3130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2592" y="3168"/>
              <a:ext cx="5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num1</a:t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3188" y="3130"/>
              <a:ext cx="3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3140" y="3466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2592" y="3504"/>
              <a:ext cx="50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num2</a:t>
              </a:r>
              <a:endParaRPr/>
            </a:p>
          </p:txBody>
        </p:sp>
        <p:sp>
          <p:nvSpPr>
            <p:cNvPr id="195" name="Google Shape;195;p7"/>
            <p:cNvSpPr txBox="1"/>
            <p:nvPr/>
          </p:nvSpPr>
          <p:spPr>
            <a:xfrm>
              <a:off x="3188" y="3466"/>
              <a:ext cx="3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38</a:t>
              </a:r>
              <a:endParaRPr/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1632" y="3312"/>
              <a:ext cx="6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After: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Assignment</a:t>
            </a:r>
            <a:endParaRPr/>
          </a:p>
        </p:txBody>
      </p: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990600" y="12192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object references, assignment copies the address: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1905000" y="3794125"/>
            <a:ext cx="23177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name2 = name1;</a:t>
            </a:r>
            <a:endParaRPr/>
          </a:p>
        </p:txBody>
      </p:sp>
      <p:grpSp>
        <p:nvGrpSpPr>
          <p:cNvPr id="204" name="Google Shape;204;p8"/>
          <p:cNvGrpSpPr/>
          <p:nvPr/>
        </p:nvGrpSpPr>
        <p:grpSpPr>
          <a:xfrm>
            <a:off x="1828800" y="2346325"/>
            <a:ext cx="6172200" cy="990600"/>
            <a:chOff x="1152" y="1478"/>
            <a:chExt cx="3888" cy="624"/>
          </a:xfrm>
        </p:grpSpPr>
        <p:sp>
          <p:nvSpPr>
            <p:cNvPr id="205" name="Google Shape;205;p8"/>
            <p:cNvSpPr/>
            <p:nvPr/>
          </p:nvSpPr>
          <p:spPr>
            <a:xfrm>
              <a:off x="2736" y="1478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8"/>
            <p:cNvSpPr txBox="1"/>
            <p:nvPr/>
          </p:nvSpPr>
          <p:spPr>
            <a:xfrm>
              <a:off x="2112" y="1516"/>
              <a:ext cx="5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name1</a:t>
              </a:r>
              <a:endParaRPr/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2112" y="1852"/>
              <a:ext cx="5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name2</a:t>
              </a:r>
              <a:endParaRPr/>
            </a:p>
          </p:txBody>
        </p:sp>
        <p:sp>
          <p:nvSpPr>
            <p:cNvPr id="208" name="Google Shape;208;p8"/>
            <p:cNvSpPr txBox="1"/>
            <p:nvPr/>
          </p:nvSpPr>
          <p:spPr>
            <a:xfrm>
              <a:off x="1152" y="1660"/>
              <a:ext cx="78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Before:</a:t>
              </a: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>
              <a:off x="3408" y="1478"/>
              <a:ext cx="1392" cy="240"/>
            </a:xfrm>
            <a:prstGeom prst="roundRect">
              <a:avLst>
                <a:gd fmla="val 16667" name="adj"/>
              </a:avLst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দিন</a:t>
              </a:r>
              <a:endParaRPr b="1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0" name="Google Shape;210;p8"/>
            <p:cNvCxnSpPr/>
            <p:nvPr/>
          </p:nvCxnSpPr>
          <p:spPr>
            <a:xfrm>
              <a:off x="2928" y="1598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1" name="Google Shape;211;p8"/>
            <p:cNvSpPr/>
            <p:nvPr/>
          </p:nvSpPr>
          <p:spPr>
            <a:xfrm>
              <a:off x="2736" y="1814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3408" y="1814"/>
              <a:ext cx="1632" cy="240"/>
            </a:xfrm>
            <a:prstGeom prst="roundRect">
              <a:avLst>
                <a:gd fmla="val 16667" name="adj"/>
              </a:avLst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Day</a:t>
              </a:r>
              <a:endParaRPr/>
            </a:p>
          </p:txBody>
        </p:sp>
        <p:cxnSp>
          <p:nvCxnSpPr>
            <p:cNvPr id="213" name="Google Shape;213;p8"/>
            <p:cNvCxnSpPr/>
            <p:nvPr/>
          </p:nvCxnSpPr>
          <p:spPr>
            <a:xfrm>
              <a:off x="2928" y="1934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14" name="Google Shape;214;p8"/>
          <p:cNvGrpSpPr/>
          <p:nvPr/>
        </p:nvGrpSpPr>
        <p:grpSpPr>
          <a:xfrm>
            <a:off x="1905000" y="4648200"/>
            <a:ext cx="5638800" cy="998538"/>
            <a:chOff x="1200" y="2928"/>
            <a:chExt cx="3552" cy="629"/>
          </a:xfrm>
        </p:grpSpPr>
        <p:sp>
          <p:nvSpPr>
            <p:cNvPr id="215" name="Google Shape;215;p8"/>
            <p:cNvSpPr/>
            <p:nvPr/>
          </p:nvSpPr>
          <p:spPr>
            <a:xfrm>
              <a:off x="2784" y="2928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2160" y="2971"/>
              <a:ext cx="5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name1</a:t>
              </a: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784" y="3269"/>
              <a:ext cx="432" cy="240"/>
            </a:xfrm>
            <a:prstGeom prst="rect">
              <a:avLst/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2160" y="3307"/>
              <a:ext cx="5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name2</a:t>
              </a:r>
              <a:endParaRPr/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1200" y="3115"/>
              <a:ext cx="62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After:</a:t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408" y="2928"/>
              <a:ext cx="1344" cy="240"/>
            </a:xfrm>
            <a:prstGeom prst="roundRect">
              <a:avLst>
                <a:gd fmla="val 16667" name="adj"/>
              </a:avLst>
            </a:prstGeom>
            <a:solidFill>
              <a:srgbClr val="F5E985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দিন</a:t>
              </a:r>
              <a:endParaRPr b="1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1" name="Google Shape;221;p8"/>
            <p:cNvCxnSpPr/>
            <p:nvPr/>
          </p:nvCxnSpPr>
          <p:spPr>
            <a:xfrm>
              <a:off x="2928" y="3048"/>
              <a:ext cx="43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p8"/>
            <p:cNvCxnSpPr/>
            <p:nvPr/>
          </p:nvCxnSpPr>
          <p:spPr>
            <a:xfrm flipH="1" rot="10800000">
              <a:off x="3312" y="3211"/>
              <a:ext cx="96" cy="192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3" name="Google Shape;223;p8"/>
            <p:cNvCxnSpPr/>
            <p:nvPr/>
          </p:nvCxnSpPr>
          <p:spPr>
            <a:xfrm rot="10800000">
              <a:off x="2928" y="3403"/>
              <a:ext cx="384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Aliases</a:t>
            </a:r>
            <a:endParaRPr/>
          </a:p>
        </p:txBody>
      </p:sp>
      <p:sp>
        <p:nvSpPr>
          <p:cNvPr id="229" name="Google Shape;229;p9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Two or more references that refer to the same object are called </a:t>
            </a:r>
            <a:r>
              <a:rPr i="1" lang="en-US"/>
              <a:t>aliases</a:t>
            </a:r>
            <a:r>
              <a:rPr lang="en-US"/>
              <a:t> of each other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That creates an interesting situation: one object can be accessed using multiple reference variables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Aliases can be useful, but should be managed carefully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Changing an object through one reference changes it for all of its aliases, because there is really only one object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Garbage Collection</a:t>
            </a:r>
            <a:endParaRPr/>
          </a:p>
        </p:txBody>
      </p:sp>
      <p:sp>
        <p:nvSpPr>
          <p:cNvPr id="235" name="Google Shape;235;p10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an object no longer has any valid references to it, it can no longer be accessed by the program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object is useless, and therefore is called </a:t>
            </a:r>
            <a:r>
              <a:rPr i="1" lang="en-US"/>
              <a:t>garbage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Java performs </a:t>
            </a:r>
            <a:r>
              <a:rPr i="1" lang="en-US"/>
              <a:t>automatic garbage collection</a:t>
            </a:r>
            <a:r>
              <a:rPr lang="en-US"/>
              <a:t> periodically, returning an object's memory to the system for future use</a:t>
            </a:r>
            <a:endParaRPr/>
          </a:p>
          <a:p>
            <a:pPr indent="-342900" lvl="0" marL="342900" rtl="0" algn="l">
              <a:spcBef>
                <a:spcPts val="192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other languages, the programmer is responsible for performing garbage collection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String Class</a:t>
            </a:r>
            <a:endParaRPr/>
          </a:p>
        </p:txBody>
      </p:sp>
      <p:sp>
        <p:nvSpPr>
          <p:cNvPr id="241" name="Google Shape;241;p11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Because strings are so common, we don't have to use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/>
              <a:t> operator to create 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object</a:t>
            </a:r>
            <a:endParaRPr/>
          </a:p>
          <a:p>
            <a:pPr indent="-342900" lvl="0" marL="342900" rtl="0" algn="ctr">
              <a:spcBef>
                <a:spcPts val="2040"/>
              </a:spcBef>
              <a:spcAft>
                <a:spcPts val="0"/>
              </a:spcAft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title = "Java Software Solutions";</a:t>
            </a:r>
            <a:endParaRPr/>
          </a:p>
          <a:p>
            <a:pPr indent="-342900" lvl="0" marL="342900" rtl="0" algn="l">
              <a:spcBef>
                <a:spcPts val="204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is special syntax that works </a:t>
            </a:r>
            <a:r>
              <a:rPr lang="en-US" u="sng"/>
              <a:t>only</a:t>
            </a:r>
            <a:r>
              <a:rPr lang="en-US"/>
              <a:t> for strings</a:t>
            </a:r>
            <a:endParaRPr/>
          </a:p>
          <a:p>
            <a:pPr indent="-342900" lvl="0" marL="342900" rtl="0" algn="l">
              <a:spcBef>
                <a:spcPts val="204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Each string literal (enclosed in double quotes) represents 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object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 Methods</a:t>
            </a:r>
            <a:endParaRPr/>
          </a:p>
        </p:txBody>
      </p:sp>
      <p:sp>
        <p:nvSpPr>
          <p:cNvPr id="247" name="Google Shape;247;p12"/>
          <p:cNvSpPr txBox="1"/>
          <p:nvPr>
            <p:ph idx="1" type="body"/>
          </p:nvPr>
        </p:nvSpPr>
        <p:spPr>
          <a:xfrm>
            <a:off x="990600" y="1219200"/>
            <a:ext cx="7924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Once 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object has been created, neither its value nor its length can be changed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Thus we say that an object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class is </a:t>
            </a:r>
            <a:r>
              <a:rPr i="1" lang="en-US"/>
              <a:t>immutable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However, several methods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class return new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objects that are modified versions of the original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 Indexes</a:t>
            </a:r>
            <a:endParaRPr/>
          </a:p>
        </p:txBody>
      </p:sp>
      <p:sp>
        <p:nvSpPr>
          <p:cNvPr id="253" name="Google Shape;253;p13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 is occasionally helpful to refer to a particular character within a string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can be done by specifying the character's numeric </a:t>
            </a:r>
            <a:r>
              <a:rPr i="1" lang="en-US"/>
              <a:t>index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indexes begin at zero in each string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the string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en-US"/>
              <a:t>, the character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'H'</a:t>
            </a:r>
            <a:r>
              <a:rPr lang="en-US"/>
              <a:t> is at index 0 and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'o'</a:t>
            </a:r>
            <a:r>
              <a:rPr lang="en-US"/>
              <a:t> is at index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/>
          <p:nvPr>
            <p:ph type="title"/>
          </p:nvPr>
        </p:nvSpPr>
        <p:spPr>
          <a:xfrm>
            <a:off x="1066800" y="0"/>
            <a:ext cx="792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9" name="Google Shape;259;p14"/>
          <p:cNvSpPr txBox="1"/>
          <p:nvPr>
            <p:ph idx="1" type="body"/>
          </p:nvPr>
        </p:nvSpPr>
        <p:spPr>
          <a:xfrm>
            <a:off x="381000" y="838200"/>
            <a:ext cx="8305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	String phrase = new String ("Change is inevitable");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String mutation1, mutation2, mutation3, mutation4;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("Original string: \"" + phrase + "\"");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("Length of string: " + phrase.length());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mutation1 = phrase.concat (", except from vending machines.");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mutation2 = mutation1.toUpperCase();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mutation3 = mutation2.replace ('E', 'X');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mutation4 = mutation3.substring (3, 30);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// Print each mutated string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("Mutation #1: " + mutation1);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("Mutation #2: " + mutation2);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("Mutation #3: " + mutation3);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("Mutation #4: " + mutation4);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("Mutated length: " + mutation4.length());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Libraries</a:t>
            </a:r>
            <a:endParaRPr/>
          </a:p>
        </p:txBody>
      </p:sp>
      <p:sp>
        <p:nvSpPr>
          <p:cNvPr id="265" name="Google Shape;265;p15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</a:t>
            </a:r>
            <a:r>
              <a:rPr i="1" lang="en-US"/>
              <a:t>class library</a:t>
            </a:r>
            <a:r>
              <a:rPr lang="en-US"/>
              <a:t> is a collection of classes that we can use when developing programs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i="1" lang="en-US"/>
              <a:t>Java standard class library</a:t>
            </a:r>
            <a:r>
              <a:rPr lang="en-US"/>
              <a:t> is part of any Java development environment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Its classes are not part of the Java language per se, but we rely on them heavily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Various classes we've already used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/>
              <a:t> 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) are part of the Java standard class library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Other class libraries can be obtained through third party vendors, or you can create them yourself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Packages</a:t>
            </a:r>
            <a:endParaRPr/>
          </a:p>
        </p:txBody>
      </p:sp>
      <p:sp>
        <p:nvSpPr>
          <p:cNvPr id="271" name="Google Shape;271;p16"/>
          <p:cNvSpPr txBox="1"/>
          <p:nvPr>
            <p:ph idx="1" type="body"/>
          </p:nvPr>
        </p:nvSpPr>
        <p:spPr>
          <a:xfrm>
            <a:off x="990600" y="1219200"/>
            <a:ext cx="79248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classes of the Java standard class library are organized into </a:t>
            </a:r>
            <a:r>
              <a:rPr i="1" lang="en-US"/>
              <a:t>packages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of the packages in the standard class library are:</a:t>
            </a:r>
            <a:endParaRPr/>
          </a:p>
        </p:txBody>
      </p:sp>
      <p:grpSp>
        <p:nvGrpSpPr>
          <p:cNvPr id="272" name="Google Shape;272;p16"/>
          <p:cNvGrpSpPr/>
          <p:nvPr/>
        </p:nvGrpSpPr>
        <p:grpSpPr>
          <a:xfrm>
            <a:off x="1776413" y="3198813"/>
            <a:ext cx="6986587" cy="2744787"/>
            <a:chOff x="1051" y="1968"/>
            <a:chExt cx="4401" cy="1729"/>
          </a:xfrm>
        </p:grpSpPr>
        <p:sp>
          <p:nvSpPr>
            <p:cNvPr id="273" name="Google Shape;273;p16"/>
            <p:cNvSpPr txBox="1"/>
            <p:nvPr/>
          </p:nvSpPr>
          <p:spPr>
            <a:xfrm>
              <a:off x="1051" y="1968"/>
              <a:ext cx="1362" cy="1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sng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Package</a:t>
              </a:r>
              <a:endParaRPr b="1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java.lang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java.applet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java.awt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javax.swing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java.net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java.util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javax.xml.parsers</a:t>
              </a:r>
              <a:endParaRPr/>
            </a:p>
          </p:txBody>
        </p:sp>
        <p:sp>
          <p:nvSpPr>
            <p:cNvPr id="274" name="Google Shape;274;p16"/>
            <p:cNvSpPr txBox="1"/>
            <p:nvPr/>
          </p:nvSpPr>
          <p:spPr>
            <a:xfrm>
              <a:off x="2592" y="1969"/>
              <a:ext cx="2860" cy="1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sng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Purpose</a:t>
              </a:r>
              <a:endParaRPr b="1" sz="20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General support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Creating applets for the web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Graphics and graphical user interfaces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Additional graphics capabilities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Network communication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Utilities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XML document processing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import Declaration</a:t>
            </a:r>
            <a:endParaRPr/>
          </a:p>
        </p:txBody>
      </p:sp>
      <p:sp>
        <p:nvSpPr>
          <p:cNvPr id="280" name="Google Shape;280;p17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you want to use a class from a package, you could use its </a:t>
            </a:r>
            <a:r>
              <a:rPr i="1" lang="en-US"/>
              <a:t>fully qualified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java.util.Scanner;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java.util.Random;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Or you can </a:t>
            </a:r>
            <a:r>
              <a:rPr i="1" lang="en-US"/>
              <a:t>import</a:t>
            </a:r>
            <a:r>
              <a:rPr lang="en-US"/>
              <a:t> the class, and then use just the class name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import java.util.Scanner;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import all classes in a particular package, you can use the * wildcard character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import java.util.*;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import Declaration</a:t>
            </a:r>
            <a:endParaRPr/>
          </a:p>
        </p:txBody>
      </p:sp>
      <p:sp>
        <p:nvSpPr>
          <p:cNvPr id="286" name="Google Shape;286;p18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All classes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java.lang</a:t>
            </a:r>
            <a:r>
              <a:rPr lang="en-US"/>
              <a:t> package are imported automatically into all programs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It's as if all programs contain the following line:</a:t>
            </a:r>
            <a:endParaRPr/>
          </a:p>
          <a:p>
            <a:pPr indent="-342900" lvl="0" marL="342900" rtl="0" algn="ctr">
              <a:spcBef>
                <a:spcPts val="1800"/>
              </a:spcBef>
              <a:spcAft>
                <a:spcPts val="0"/>
              </a:spcAft>
              <a:buSzPts val="18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import java.lang.*;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That's why we didn't have to import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-US"/>
              <a:t>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/>
              <a:t> classes explicitly in earlier programs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class, on the other hand, is part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java.util</a:t>
            </a:r>
            <a:r>
              <a:rPr lang="en-US"/>
              <a:t> package, and therefore must be imported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Random Class</a:t>
            </a:r>
            <a:endParaRPr/>
          </a:p>
        </p:txBody>
      </p:sp>
      <p:sp>
        <p:nvSpPr>
          <p:cNvPr id="292" name="Google Shape;292;p19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en-US"/>
              <a:t> class is part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java.util</a:t>
            </a:r>
            <a:r>
              <a:rPr lang="en-US"/>
              <a:t> package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 provides methods that generate pseudorandom numbers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en-US"/>
              <a:t> object performs complicated calculations based on a </a:t>
            </a:r>
            <a:r>
              <a:rPr i="1" lang="en-US"/>
              <a:t>seed value</a:t>
            </a:r>
            <a:r>
              <a:rPr lang="en-US"/>
              <a:t> to produce a stream of seemingly random values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RandomNumbers.java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/>
          <p:nvPr>
            <p:ph idx="1" type="body"/>
          </p:nvPr>
        </p:nvSpPr>
        <p:spPr>
          <a:xfrm>
            <a:off x="381000" y="152400"/>
            <a:ext cx="83058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rPr lang="en-US" sz="1600"/>
              <a:t>Random generator = new Random();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int num1;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float num2;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num1 = generator.nextInt();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("A random integer: " + num1);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num1 = generator.nextInt(10);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("From 0 to 9: " + num1);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num1 = generator.nextInt(15) + 20;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("From 20 to 34: " + num1);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num1 = generator.nextInt(20) - 10;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("From -10 to 9: " + num1);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num2 = generator.nextFloat();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("A random float [between 0-1]: " + num2);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num2 = generator.nextFloat() * 6;  // 0.0 to 5.999999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num1 = (int) num2 + 1;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("From 1 to 6: " + num1);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Interactive Programs</a:t>
            </a:r>
            <a:endParaRPr/>
          </a:p>
        </p:txBody>
      </p:sp>
      <p:sp>
        <p:nvSpPr>
          <p:cNvPr id="303" name="Google Shape;303;p21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Programs generally need input on which to operate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class provides convenient methods for reading input values of various types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object can be set up to read input from various sources, including the user typing values on the keyboard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Keyboard input is represented by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System.in</a:t>
            </a:r>
            <a:r>
              <a:rPr lang="en-US"/>
              <a:t> object</a:t>
            </a:r>
            <a:endParaRPr/>
          </a:p>
          <a:p>
            <a:pPr indent="-228600" lvl="0" marL="342900" rtl="0" algn="l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Input</a:t>
            </a:r>
            <a:endParaRPr/>
          </a:p>
        </p:txBody>
      </p:sp>
      <p:sp>
        <p:nvSpPr>
          <p:cNvPr id="309" name="Google Shape;309;p22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following line creates a Scanner object that reads from the keyboard:</a:t>
            </a:r>
            <a:endParaRPr/>
          </a:p>
          <a:p>
            <a:pPr indent="-342900" lvl="0" marL="342900" rtl="0" algn="ctr">
              <a:spcBef>
                <a:spcPts val="14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Scanner scan = new Scanner (System.in);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/>
              <a:t> operator creates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object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Once created,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object can be used to invoke various input methods, such as:</a:t>
            </a:r>
            <a:endParaRPr/>
          </a:p>
          <a:p>
            <a:pPr indent="-342900" lvl="0" marL="342900" rtl="0" algn="ctr">
              <a:spcBef>
                <a:spcPts val="1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answer = scan.nextLine();</a:t>
            </a:r>
            <a:endParaRPr/>
          </a:p>
          <a:p>
            <a:pPr indent="-247650" lvl="0" marL="342900" rtl="0" algn="l"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Input</a:t>
            </a:r>
            <a:endParaRPr/>
          </a:p>
        </p:txBody>
      </p:sp>
      <p:sp>
        <p:nvSpPr>
          <p:cNvPr id="315" name="Google Shape;315;p23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class is part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java.util</a:t>
            </a:r>
            <a:r>
              <a:rPr lang="en-US"/>
              <a:t> class library, and must be imported into a program to be used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Echo.java</a:t>
            </a:r>
            <a:r>
              <a:rPr lang="en-US"/>
              <a:t> (page 91)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nextLine</a:t>
            </a:r>
            <a:r>
              <a:rPr lang="en-US"/>
              <a:t> method reads all of the input until the end of the line is found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Echo.java</a:t>
            </a:r>
            <a:endParaRPr/>
          </a:p>
        </p:txBody>
      </p:sp>
      <p:sp>
        <p:nvSpPr>
          <p:cNvPr id="321" name="Google Shape;321;p24"/>
          <p:cNvSpPr txBox="1"/>
          <p:nvPr>
            <p:ph idx="1" type="body"/>
          </p:nvPr>
        </p:nvSpPr>
        <p:spPr>
          <a:xfrm>
            <a:off x="152400" y="1066800"/>
            <a:ext cx="89154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import java.util.Scanner;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public class Echo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	//  Reads a character string from the user and prints it.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	public static void main (String[] args)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   String message;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   Scanner scan = new Scanner (System.in);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   System.out.println ("Enter a line of text:");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   message = scan.nextLine();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   System.out.println ("You entered: \"" + message + "\"");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Input Tokens</a:t>
            </a:r>
            <a:endParaRPr/>
          </a:p>
        </p:txBody>
      </p:sp>
      <p:sp>
        <p:nvSpPr>
          <p:cNvPr id="327" name="Google Shape;327;p25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Unless specified otherwise, </a:t>
            </a:r>
            <a:r>
              <a:rPr i="1" lang="en-US"/>
              <a:t>white space</a:t>
            </a:r>
            <a:r>
              <a:rPr lang="en-US"/>
              <a:t> is used to separate the elements (called </a:t>
            </a:r>
            <a:r>
              <a:rPr i="1" lang="en-US"/>
              <a:t>tokens</a:t>
            </a:r>
            <a:r>
              <a:rPr lang="en-US"/>
              <a:t>) of the input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White space includes space characters, tabs, new line characters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r>
              <a:rPr lang="en-US"/>
              <a:t> method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-US"/>
              <a:t> class reads the next input token and returns it as a string</a:t>
            </a:r>
            <a:endParaRPr/>
          </a:p>
          <a:p>
            <a:pPr indent="-342900" lvl="0" marL="342900" rtl="0" algn="l">
              <a:spcBef>
                <a:spcPts val="168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Methods such as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nextInt</a:t>
            </a:r>
            <a:r>
              <a:rPr lang="en-US"/>
              <a:t> and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nextDouble</a:t>
            </a:r>
            <a:r>
              <a:rPr lang="en-US"/>
              <a:t> read data of particular types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6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public static void main (String[] args)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int miles;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double gallons, mpg;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Scanner scan = new Scanner (System.in);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 ("Enter the number of miles: 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miles = scan.nextInt();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 ("Enter the gallons of fuel used: ");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gallons = scan.nextDouble();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mpg = miles / gallons;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t/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   System.out.println ("Miles Per Gallon: " + mpg);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Times New Roman"/>
              <a:buNone/>
            </a:pPr>
            <a:r>
              <a:rPr lang="en-US" sz="1800"/>
              <a:t>   }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Math Class</a:t>
            </a:r>
            <a:endParaRPr/>
          </a:p>
        </p:txBody>
      </p:sp>
      <p:sp>
        <p:nvSpPr>
          <p:cNvPr id="339" name="Google Shape;339;p27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-US"/>
              <a:t> class is part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java.lang</a:t>
            </a:r>
            <a:r>
              <a:rPr lang="en-US"/>
              <a:t> package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-US"/>
              <a:t> class contains methods that perform various mathematical functions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These include:</a:t>
            </a:r>
            <a:endParaRPr/>
          </a:p>
          <a:p>
            <a:pPr indent="-285750" lvl="1" marL="742950" rtl="0" algn="l">
              <a:spcBef>
                <a:spcPts val="15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absolute value</a:t>
            </a:r>
            <a:endParaRPr/>
          </a:p>
          <a:p>
            <a:pPr indent="-285750" lvl="1" marL="742950" rtl="0" algn="l">
              <a:spcBef>
                <a:spcPts val="15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square root</a:t>
            </a:r>
            <a:endParaRPr/>
          </a:p>
          <a:p>
            <a:pPr indent="-285750" lvl="1" marL="742950" rtl="0" algn="l">
              <a:spcBef>
                <a:spcPts val="15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exponentiation</a:t>
            </a:r>
            <a:endParaRPr/>
          </a:p>
          <a:p>
            <a:pPr indent="-285750" lvl="1" marL="742950" rtl="0" algn="l">
              <a:spcBef>
                <a:spcPts val="15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trigonometric functions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/>
          <p:nvPr>
            <p:ph type="title"/>
          </p:nvPr>
        </p:nvSpPr>
        <p:spPr>
          <a:xfrm>
            <a:off x="611188" y="198438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Math Class</a:t>
            </a:r>
            <a:endParaRPr/>
          </a:p>
        </p:txBody>
      </p:sp>
      <p:sp>
        <p:nvSpPr>
          <p:cNvPr id="345" name="Google Shape;345;p28"/>
          <p:cNvSpPr txBox="1"/>
          <p:nvPr>
            <p:ph idx="1" type="body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methods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-US"/>
              <a:t> class are </a:t>
            </a:r>
            <a:r>
              <a:rPr i="1" lang="en-US"/>
              <a:t>static methods</a:t>
            </a:r>
            <a:r>
              <a:rPr lang="en-US"/>
              <a:t> (also called </a:t>
            </a:r>
            <a:r>
              <a:rPr i="1" lang="en-US"/>
              <a:t>class methods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18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Static methods can be invoked through the class name – no object of the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-US"/>
              <a:t> class is needed</a:t>
            </a:r>
            <a:endParaRPr/>
          </a:p>
          <a:p>
            <a:pPr indent="-342900" lvl="0" marL="342900" rtl="0" algn="ctr">
              <a:spcBef>
                <a:spcPts val="1500"/>
              </a:spcBef>
              <a:spcAft>
                <a:spcPts val="0"/>
              </a:spcAft>
              <a:buSzPts val="1500"/>
              <a:buFont typeface="Courier New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value = Math.cos(90) + Math.sqrt(delta);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Quadratic.java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 txBox="1"/>
          <p:nvPr>
            <p:ph idx="1" type="body"/>
          </p:nvPr>
        </p:nvSpPr>
        <p:spPr>
          <a:xfrm>
            <a:off x="990600" y="0"/>
            <a:ext cx="79248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	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	 int a, b, c;  // ax^2 + bx + c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double discriminant, root1, root2;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Scanner scan = new Scanner (System.in);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System.out.print ("Enter the coefficient of x squared: ");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a = scan.nextInt();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System.out.print ("Enter the coefficient of x: ");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b = scan.nextInt();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System.out.print ("Enter the constant: ");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c = scan.nextInt();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	discriminant = Math.pow(b, 2) - (4 * a * c);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root1 = ((-1 * b) + Math.sqrt(discriminant)) / (2 * a);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rPr lang="en-US" sz="2000"/>
              <a:t>      root2 = ((-1 * b) - Math.sqrt(discriminant)) / (2 * a);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500"/>
              <a:buFont typeface="Times New Roman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1999-08-23T17:38:43Z</dcterms:created>
  <dc:creator>Bedir Tekinerdogan</dc:creator>
</cp:coreProperties>
</file>