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411" r:id="rId3"/>
    <p:sldId id="420" r:id="rId4"/>
    <p:sldId id="418" r:id="rId5"/>
    <p:sldId id="419" r:id="rId6"/>
  </p:sldIdLst>
  <p:sldSz cx="9144000" cy="5143500" type="screen16x9"/>
  <p:notesSz cx="6858000" cy="9144000"/>
  <p:embeddedFontLst>
    <p:embeddedFont>
      <p:font typeface="Open Sans" panose="020B0604020202020204" charset="0"/>
      <p:regular r:id="rId8"/>
      <p:bold r:id="rId9"/>
      <p:italic r:id="rId10"/>
      <p:boldItalic r:id="rId11"/>
    </p:embeddedFont>
    <p:embeddedFont>
      <p:font typeface="PT Sans Narrow" panose="020B0604020202020204" charset="0"/>
      <p:regular r:id="rId12"/>
      <p:bold r:id="rId13"/>
    </p:embeddedFont>
    <p:embeddedFont>
      <p:font typeface="Franklin Gothic Book" panose="020B0503020102020204" pitchFamily="34" charset="0"/>
      <p:regular r:id="rId14"/>
      <p: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4" roundtripDataSignature="AMtx7mh3989DbHeCCcghSyDbXqoAhpt+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C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DC773CA-9BDA-4F7F-8A96-76B0CF8F49A1}">
  <a:tblStyle styleId="{8DC773CA-9BDA-4F7F-8A96-76B0CF8F49A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C838FC6E-01E2-4FB2-8F2E-1E4BBFDAC96D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D196E8A-AA6E-49EB-B677-15E39E269131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rgbClr val="4BACC6">
              <a:alpha val="40000"/>
            </a:srgb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>
          <a:top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4BACC6">
              <a:alpha val="40000"/>
            </a:srgb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4BACC6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103" d="100"/>
          <a:sy n="103" d="100"/>
        </p:scale>
        <p:origin x="22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98" Type="http://schemas.openxmlformats.org/officeDocument/2006/relationships/tableStyles" Target="tableStyles.xml"/><Relationship Id="rId3" Type="http://schemas.openxmlformats.org/officeDocument/2006/relationships/slide" Target="slides/slide2.xml"/><Relationship Id="rId97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95" Type="http://schemas.openxmlformats.org/officeDocument/2006/relationships/presProps" Target="presProps.xml"/><Relationship Id="rId10" Type="http://schemas.openxmlformats.org/officeDocument/2006/relationships/font" Target="fonts/font3.fntdata"/><Relationship Id="rId9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870217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76812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7222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7748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8568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0055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57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57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57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57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57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57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57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57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57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57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8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0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60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1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61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3" name="Google Shape;43;p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4" name="Google Shape;44;p6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" name="Google Shape;47;p64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64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64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64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6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5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6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6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66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66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5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 txBox="1">
            <a:spLocks noGrp="1"/>
          </p:cNvSpPr>
          <p:nvPr>
            <p:ph type="ctrTitle"/>
          </p:nvPr>
        </p:nvSpPr>
        <p:spPr>
          <a:xfrm>
            <a:off x="358608" y="15320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 sz="2800" dirty="0">
                <a:solidFill>
                  <a:srgbClr val="000000"/>
                </a:solidFill>
              </a:rPr>
              <a:t>Artificial Intelligence</a:t>
            </a:r>
            <a:endParaRPr sz="2800" dirty="0">
              <a:solidFill>
                <a:srgbClr val="000000"/>
              </a:solidFill>
            </a:endParaRPr>
          </a:p>
        </p:txBody>
      </p:sp>
      <p:sp>
        <p:nvSpPr>
          <p:cNvPr id="67" name="Google Shape;67;p1"/>
          <p:cNvSpPr txBox="1">
            <a:spLocks noGrp="1"/>
          </p:cNvSpPr>
          <p:nvPr>
            <p:ph type="subTitle" idx="1"/>
          </p:nvPr>
        </p:nvSpPr>
        <p:spPr>
          <a:xfrm>
            <a:off x="311700" y="31043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600" b="1" dirty="0"/>
              <a:t>Dr. Amit Kumar Mondal</a:t>
            </a:r>
            <a:r>
              <a:rPr lang="en-US" sz="1600" dirty="0"/>
              <a:t>,</a:t>
            </a:r>
            <a:endParaRPr sz="1600" dirty="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 dirty="0"/>
              <a:t>Associate Professor, CSE KU</a:t>
            </a:r>
            <a:endParaRPr sz="1400" dirty="0"/>
          </a:p>
        </p:txBody>
      </p:sp>
      <p:sp>
        <p:nvSpPr>
          <p:cNvPr id="68" name="Google Shape;68;p1"/>
          <p:cNvSpPr txBox="1">
            <a:spLocks noGrp="1"/>
          </p:cNvSpPr>
          <p:nvPr>
            <p:ph type="subTitle" idx="1"/>
          </p:nvPr>
        </p:nvSpPr>
        <p:spPr>
          <a:xfrm>
            <a:off x="358608" y="2315243"/>
            <a:ext cx="8520600" cy="5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 b="1" dirty="0">
                <a:solidFill>
                  <a:srgbClr val="000000"/>
                </a:solidFill>
              </a:rPr>
              <a:t>Chapter-1</a:t>
            </a:r>
          </a:p>
        </p:txBody>
      </p:sp>
      <p:sp>
        <p:nvSpPr>
          <p:cNvPr id="69" name="Google Shape;69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</a:t>
            </a:fld>
            <a:endParaRPr dirty="0"/>
          </a:p>
        </p:txBody>
      </p:sp>
      <p:sp>
        <p:nvSpPr>
          <p:cNvPr id="71" name="Google Shape;71;p1"/>
          <p:cNvSpPr txBox="1">
            <a:spLocks noGrp="1"/>
          </p:cNvSpPr>
          <p:nvPr>
            <p:ph type="subTitle" idx="1"/>
          </p:nvPr>
        </p:nvSpPr>
        <p:spPr>
          <a:xfrm>
            <a:off x="1027000" y="274213"/>
            <a:ext cx="7183800" cy="5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600" dirty="0"/>
              <a:t>Computer Science &amp; Engineering, Khulna University</a:t>
            </a:r>
            <a:endParaRPr sz="1600" dirty="0"/>
          </a:p>
        </p:txBody>
      </p:sp>
      <p:pic>
        <p:nvPicPr>
          <p:cNvPr id="1026" name="Picture 2" descr="Not Found">
            <a:extLst>
              <a:ext uri="{FF2B5EF4-FFF2-40B4-BE49-F238E27FC236}">
                <a16:creationId xmlns:a16="http://schemas.microsoft.com/office/drawing/2014/main" xmlns="" id="{429A803B-6FEB-B38E-0521-DB550C6E5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50" y="17450"/>
            <a:ext cx="800613" cy="89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dirty="0" smtClean="0"/>
              <a:t>Contents</a:t>
            </a:r>
            <a:endParaRPr dirty="0"/>
          </a:p>
        </p:txBody>
      </p:sp>
      <p:sp>
        <p:nvSpPr>
          <p:cNvPr id="78" name="Google Shape;7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3" name="Picture 2" descr="Not Found">
            <a:extLst>
              <a:ext uri="{FF2B5EF4-FFF2-40B4-BE49-F238E27FC236}">
                <a16:creationId xmlns:a16="http://schemas.microsoft.com/office/drawing/2014/main" xmlns="" id="{A3D9D457-3B4F-320E-FE2E-3D8C7A4DA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786" y="0"/>
            <a:ext cx="728328" cy="77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77;p2">
            <a:extLst>
              <a:ext uri="{FF2B5EF4-FFF2-40B4-BE49-F238E27FC236}">
                <a16:creationId xmlns:a16="http://schemas.microsoft.com/office/drawing/2014/main" xmlns="" id="{4041E234-712E-0E26-562F-BD2162098F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2038" y="1076509"/>
            <a:ext cx="8520600" cy="378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600" b="0" dirty="0" smtClean="0">
                <a:effectLst/>
              </a:rPr>
              <a:t>Problem solving steps</a:t>
            </a:r>
            <a:endParaRPr lang="en-US" sz="1600" b="0" dirty="0">
              <a:effectLst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600" b="0" dirty="0" smtClean="0">
                <a:effectLst/>
              </a:rPr>
              <a:t>Test case design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600" dirty="0" smtClean="0"/>
              <a:t>Test code writing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600" b="0" dirty="0" smtClean="0">
                <a:effectLst/>
              </a:rPr>
              <a:t>Data/knowledge representation in program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600" dirty="0" smtClean="0"/>
              <a:t>Previous lab assignment showcase</a:t>
            </a:r>
            <a:endParaRPr lang="en-US" sz="16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13200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3" name="Picture 2" descr="Not Found">
            <a:extLst>
              <a:ext uri="{FF2B5EF4-FFF2-40B4-BE49-F238E27FC236}">
                <a16:creationId xmlns:a16="http://schemas.microsoft.com/office/drawing/2014/main" xmlns="" id="{A3D9D457-3B4F-320E-FE2E-3D8C7A4DA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786" y="0"/>
            <a:ext cx="728328" cy="77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2207491" y="92364"/>
            <a:ext cx="2309091" cy="3694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Problem description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207491" y="701580"/>
            <a:ext cx="2309091" cy="3694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Concept, theme, context extraction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207490" y="1328885"/>
            <a:ext cx="2309091" cy="3694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Conceptual components, modules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2207490" y="1938101"/>
            <a:ext cx="2309091" cy="3694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Class, objects, attributes, methods</a:t>
            </a:r>
            <a:endParaRPr lang="en-US" dirty="0"/>
          </a:p>
        </p:txBody>
      </p:sp>
      <p:sp>
        <p:nvSpPr>
          <p:cNvPr id="12" name="Curved Up Arrow 11"/>
          <p:cNvSpPr/>
          <p:nvPr/>
        </p:nvSpPr>
        <p:spPr>
          <a:xfrm rot="16756108">
            <a:off x="4692073" y="1851123"/>
            <a:ext cx="646545" cy="54341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5335570" y="1760014"/>
            <a:ext cx="1425448" cy="629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relations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276762" y="2690864"/>
            <a:ext cx="2309091" cy="3694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coding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2276761" y="3258900"/>
            <a:ext cx="2309091" cy="3694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Test code writing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2276761" y="3927385"/>
            <a:ext cx="2309091" cy="3694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Testing</a:t>
            </a:r>
            <a:endParaRPr lang="en-US" dirty="0"/>
          </a:p>
        </p:txBody>
      </p:sp>
      <p:sp>
        <p:nvSpPr>
          <p:cNvPr id="14" name="Curved Down Arrow 13"/>
          <p:cNvSpPr/>
          <p:nvPr/>
        </p:nvSpPr>
        <p:spPr>
          <a:xfrm rot="16868963">
            <a:off x="507771" y="698845"/>
            <a:ext cx="1625600" cy="49260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117600" y="2198255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Test case design</a:t>
            </a:r>
            <a:endParaRPr lang="en-US" dirty="0"/>
          </a:p>
        </p:txBody>
      </p:sp>
      <p:sp>
        <p:nvSpPr>
          <p:cNvPr id="19" name="Down Arrow 18"/>
          <p:cNvSpPr/>
          <p:nvPr/>
        </p:nvSpPr>
        <p:spPr>
          <a:xfrm>
            <a:off x="3121891" y="387831"/>
            <a:ext cx="147782" cy="31374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own Arrow 22"/>
          <p:cNvSpPr/>
          <p:nvPr/>
        </p:nvSpPr>
        <p:spPr>
          <a:xfrm>
            <a:off x="3985491" y="1056316"/>
            <a:ext cx="147782" cy="31374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own Arrow 23"/>
          <p:cNvSpPr/>
          <p:nvPr/>
        </p:nvSpPr>
        <p:spPr>
          <a:xfrm>
            <a:off x="3911600" y="1721430"/>
            <a:ext cx="147782" cy="31374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own Arrow 24"/>
          <p:cNvSpPr/>
          <p:nvPr/>
        </p:nvSpPr>
        <p:spPr>
          <a:xfrm>
            <a:off x="3856180" y="2358067"/>
            <a:ext cx="147782" cy="31374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own Arrow 25"/>
          <p:cNvSpPr/>
          <p:nvPr/>
        </p:nvSpPr>
        <p:spPr>
          <a:xfrm>
            <a:off x="4022433" y="3023228"/>
            <a:ext cx="147782" cy="31374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Down Arrow 26"/>
          <p:cNvSpPr/>
          <p:nvPr/>
        </p:nvSpPr>
        <p:spPr>
          <a:xfrm>
            <a:off x="4170215" y="3636008"/>
            <a:ext cx="147782" cy="31374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412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>
            <a:spLocks noGrp="1"/>
          </p:cNvSpPr>
          <p:nvPr>
            <p:ph type="title"/>
          </p:nvPr>
        </p:nvSpPr>
        <p:spPr>
          <a:xfrm>
            <a:off x="262350" y="103521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dirty="0"/>
              <a:t>Acting Humanly: The Turing Test approach</a:t>
            </a:r>
          </a:p>
        </p:txBody>
      </p:sp>
      <p:sp>
        <p:nvSpPr>
          <p:cNvPr id="78" name="Google Shape;7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3" name="Picture 2" descr="Not Found">
            <a:extLst>
              <a:ext uri="{FF2B5EF4-FFF2-40B4-BE49-F238E27FC236}">
                <a16:creationId xmlns:a16="http://schemas.microsoft.com/office/drawing/2014/main" xmlns="" id="{A3D9D457-3B4F-320E-FE2E-3D8C7A4DA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786" y="0"/>
            <a:ext cx="728328" cy="77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77;p2">
            <a:extLst>
              <a:ext uri="{FF2B5EF4-FFF2-40B4-BE49-F238E27FC236}">
                <a16:creationId xmlns:a16="http://schemas.microsoft.com/office/drawing/2014/main" xmlns="" id="{4041E234-712E-0E26-562F-BD2162098F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0558" y="969075"/>
            <a:ext cx="8520600" cy="4087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US" sz="1600" dirty="0"/>
              <a:t>To do this task computer would need to possess the following capabilities: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1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</a:rPr>
              <a:t>-- Natural language processing</a:t>
            </a:r>
            <a:br>
              <a:rPr lang="en-US" sz="1600" b="0" i="1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</a:rPr>
            </a:br>
            <a:r>
              <a:rPr lang="en-US" sz="1600" b="0" i="0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</a:rPr>
              <a:t>■ for communication with human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</a:rPr>
              <a:t>– </a:t>
            </a:r>
            <a:r>
              <a:rPr lang="en-US" sz="1600" b="0" i="1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</a:rPr>
              <a:t>Knowledge representation</a:t>
            </a:r>
            <a:br>
              <a:rPr lang="en-US" sz="1600" b="0" i="1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</a:rPr>
            </a:br>
            <a:r>
              <a:rPr lang="en-US" sz="1600" b="0" i="0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</a:rPr>
              <a:t>■ to store information efficiently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</a:rPr>
              <a:t>– </a:t>
            </a:r>
            <a:r>
              <a:rPr lang="en-US" sz="1600" b="0" i="1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</a:rPr>
              <a:t>Automated reasoning</a:t>
            </a:r>
            <a:br>
              <a:rPr lang="en-US" sz="1600" b="0" i="1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</a:rPr>
            </a:br>
            <a:r>
              <a:rPr lang="en-US" sz="1600" b="0" i="0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</a:rPr>
              <a:t>■ to retrieve &amp; answer questions using the stored information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</a:rPr>
              <a:t>– </a:t>
            </a:r>
            <a:r>
              <a:rPr lang="en-US" sz="1600" b="0" i="1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</a:rPr>
              <a:t>Machine learning</a:t>
            </a:r>
            <a:br>
              <a:rPr lang="en-US" sz="1600" b="0" i="1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</a:rPr>
            </a:br>
            <a:r>
              <a:rPr lang="en-US" sz="1600" b="0" i="0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</a:rPr>
              <a:t>■ to adapt to new circumstances, detect and extrapolate patterns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/>
            </a:r>
            <a:br>
              <a:rPr lang="en-US" sz="1600" dirty="0"/>
            </a:br>
            <a:endParaRPr lang="en-US" sz="16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3660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dirty="0"/>
              <a:t>Acting Humanly: The Turing Test approach</a:t>
            </a:r>
          </a:p>
        </p:txBody>
      </p:sp>
      <p:sp>
        <p:nvSpPr>
          <p:cNvPr id="78" name="Google Shape;7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3" name="Picture 2" descr="Not Found">
            <a:extLst>
              <a:ext uri="{FF2B5EF4-FFF2-40B4-BE49-F238E27FC236}">
                <a16:creationId xmlns:a16="http://schemas.microsoft.com/office/drawing/2014/main" xmlns="" id="{A3D9D457-3B4F-320E-FE2E-3D8C7A4DA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786" y="0"/>
            <a:ext cx="728328" cy="77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77;p2">
            <a:extLst>
              <a:ext uri="{FF2B5EF4-FFF2-40B4-BE49-F238E27FC236}">
                <a16:creationId xmlns:a16="http://schemas.microsoft.com/office/drawing/2014/main" xmlns="" id="{4041E234-712E-0E26-562F-BD2162098F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0558" y="1407739"/>
            <a:ext cx="8520600" cy="3157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</a:rPr>
              <a:t>Turing test </a:t>
            </a:r>
            <a:r>
              <a:rPr lang="en-US" sz="1600" b="0" i="0" dirty="0">
                <a:solidFill>
                  <a:schemeClr val="accent1">
                    <a:lumMod val="75000"/>
                  </a:schemeClr>
                </a:solidFill>
                <a:effectLst/>
                <a:latin typeface="Franklin Gothic Book" panose="020B0503020102020204" pitchFamily="34" charset="0"/>
              </a:rPr>
              <a:t>avoided direct physical interaction </a:t>
            </a:r>
            <a:r>
              <a:rPr lang="en-US" sz="1600" b="0" i="0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</a:rPr>
              <a:t>between computer and interrogator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</a:rPr>
              <a:t>Includes two more issues: (So that the interrogator can test the subject’s perceptual abilities)</a:t>
            </a:r>
            <a:br>
              <a:rPr lang="en-US" sz="1600" b="0" i="0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</a:rPr>
            </a:br>
            <a:r>
              <a:rPr lang="en-US" sz="1600" b="0" i="0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</a:rPr>
              <a:t>– </a:t>
            </a:r>
            <a:r>
              <a:rPr lang="en-US" sz="1600" b="0" i="1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</a:rPr>
              <a:t>Computer Vision</a:t>
            </a:r>
            <a:br>
              <a:rPr lang="en-US" sz="1600" b="0" i="1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</a:rPr>
            </a:br>
            <a:r>
              <a:rPr lang="en-US" sz="1600" b="0" i="0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</a:rPr>
              <a:t>■ to perceive objects (seeing)</a:t>
            </a:r>
            <a:br>
              <a:rPr lang="en-US" sz="1600" b="0" i="0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</a:rPr>
            </a:br>
            <a:r>
              <a:rPr lang="en-US" sz="1600" b="0" i="0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</a:rPr>
              <a:t>– </a:t>
            </a:r>
            <a:r>
              <a:rPr lang="en-US" sz="1600" b="0" i="1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</a:rPr>
              <a:t>Robotics</a:t>
            </a:r>
            <a:br>
              <a:rPr lang="en-US" sz="1600" b="0" i="1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</a:rPr>
            </a:br>
            <a:r>
              <a:rPr lang="en-US" sz="1600" b="0" i="0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</a:rPr>
              <a:t>■ to move objects (acting)</a:t>
            </a:r>
            <a:r>
              <a:rPr lang="en-US" sz="1600" dirty="0"/>
              <a:t> </a:t>
            </a:r>
            <a:endParaRPr lang="en-US" sz="16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8615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14870</TotalTime>
  <Words>130</Words>
  <Application>Microsoft Office PowerPoint</Application>
  <PresentationFormat>On-screen Show (16:9)</PresentationFormat>
  <Paragraphs>34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Open Sans</vt:lpstr>
      <vt:lpstr>Arial</vt:lpstr>
      <vt:lpstr>PT Sans Narrow</vt:lpstr>
      <vt:lpstr>Franklin Gothic Book</vt:lpstr>
      <vt:lpstr>Tropic</vt:lpstr>
      <vt:lpstr>Artificial Intelligence</vt:lpstr>
      <vt:lpstr>Contents</vt:lpstr>
      <vt:lpstr>PowerPoint Presentation</vt:lpstr>
      <vt:lpstr>Acting Humanly: The Turing Test approach</vt:lpstr>
      <vt:lpstr>Acting Humanly: The Turing Test approach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Architectural Change Detection and Classification for Design Change Artifacts Generation</dc:title>
  <cp:lastModifiedBy>CSE 2025</cp:lastModifiedBy>
  <cp:revision>180</cp:revision>
  <dcterms:modified xsi:type="dcterms:W3CDTF">2025-07-31T04:56:28Z</dcterms:modified>
</cp:coreProperties>
</file>